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8" r:id="rId1"/>
  </p:sldMasterIdLst>
  <p:sldIdLst>
    <p:sldId id="256" r:id="rId2"/>
    <p:sldId id="258" r:id="rId3"/>
    <p:sldId id="257" r:id="rId4"/>
    <p:sldId id="259" r:id="rId5"/>
    <p:sldId id="282" r:id="rId6"/>
    <p:sldId id="283" r:id="rId7"/>
    <p:sldId id="260" r:id="rId8"/>
    <p:sldId id="279" r:id="rId9"/>
    <p:sldId id="261" r:id="rId10"/>
    <p:sldId id="269" r:id="rId11"/>
    <p:sldId id="262" r:id="rId12"/>
    <p:sldId id="286" r:id="rId13"/>
    <p:sldId id="270" r:id="rId14"/>
    <p:sldId id="263" r:id="rId15"/>
    <p:sldId id="285" r:id="rId16"/>
    <p:sldId id="284" r:id="rId17"/>
    <p:sldId id="278" r:id="rId18"/>
    <p:sldId id="274" r:id="rId19"/>
    <p:sldId id="277" r:id="rId20"/>
    <p:sldId id="275" r:id="rId21"/>
    <p:sldId id="276" r:id="rId22"/>
    <p:sldId id="264" r:id="rId23"/>
    <p:sldId id="265" r:id="rId24"/>
    <p:sldId id="280" r:id="rId25"/>
    <p:sldId id="266" r:id="rId26"/>
    <p:sldId id="267" r:id="rId27"/>
    <p:sldId id="281" r:id="rId28"/>
    <p:sldId id="26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shmasree Lankalapalli" initials="RL" lastIdx="1" clrIdx="0">
    <p:extLst>
      <p:ext uri="{19B8F6BF-5375-455C-9EA6-DF929625EA0E}">
        <p15:presenceInfo xmlns:p15="http://schemas.microsoft.com/office/powerpoint/2012/main" userId="7c454cc86e6d04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23" autoAdjust="0"/>
    <p:restoredTop sz="94660"/>
  </p:normalViewPr>
  <p:slideViewPr>
    <p:cSldViewPr snapToGrid="0">
      <p:cViewPr varScale="1">
        <p:scale>
          <a:sx n="84" d="100"/>
          <a:sy n="84" d="100"/>
        </p:scale>
        <p:origin x="70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ED291B17-9318-49DB-B28B-6E5994AE9581}" type="datetime1">
              <a:rPr lang="en-US" smtClean="0"/>
              <a:t>3/20/2021</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3A98EE3D-8CD1-4C3F-BD1C-C98C9596463C}" type="slidenum">
              <a:rPr lang="en-US" smtClean="0"/>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40845533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8DD82B9-B8EE-4375-B6FF-88FA6ABB15D9}" type="datetime1">
              <a:rPr lang="en-US" smtClean="0"/>
              <a:t>3/20/2021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05503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B2497495-0637-405E-AE64-5CC7506D51F5}" type="datetime1">
              <a:rPr lang="en-US" smtClean="0"/>
              <a:t>3/20/2021</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3A98EE3D-8CD1-4C3F-BD1C-C98C9596463C}" type="slidenum">
              <a:rPr lang="en-US" smtClean="0"/>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04422031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3/20/2021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00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3/20/2021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06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3/20/2021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4917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3/20/2021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9665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D82884F1-FFEA-405F-9602-3DCA865EDA4E}" type="datetime1">
              <a:rPr lang="en-US" smtClean="0"/>
              <a:t>3/20/2021</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3A98EE3D-8CD1-4C3F-BD1C-C98C9596463C}" type="slidenum">
              <a:rPr lang="en-US" smtClean="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39671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E18DB4A-8810-4A10-AD5C-D5E2C667F5B3}" type="datetime1">
              <a:rPr lang="en-US" smtClean="0"/>
              <a:t>3/20/2021</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pPr algn="l"/>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3A98EE3D-8CD1-4C3F-BD1C-C98C9596463C}" type="slidenum">
              <a:rPr lang="en-US" smtClean="0"/>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60761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3/20/2021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90165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3/20/2021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590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ED291B17-9318-49DB-B28B-6E5994AE9581}" type="datetime1">
              <a:rPr lang="en-US" smtClean="0"/>
              <a:t>3/20/2021</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3A98EE3D-8CD1-4C3F-BD1C-C98C9596463C}" type="slidenum">
              <a:rPr lang="en-US" smtClean="0"/>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52108559"/>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mailto:veena@gmail.com"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nagaveena02/Urban_spoon"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22" name="Rectangle 8">
            <a:extLst>
              <a:ext uri="{FF2B5EF4-FFF2-40B4-BE49-F238E27FC236}">
                <a16:creationId xmlns:a16="http://schemas.microsoft.com/office/drawing/2014/main" xmlns="" id="{9B347087-DEE1-4F23-8486-A2690AA195E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0">
            <a:extLst>
              <a:ext uri="{FF2B5EF4-FFF2-40B4-BE49-F238E27FC236}">
                <a16:creationId xmlns:a16="http://schemas.microsoft.com/office/drawing/2014/main" xmlns="" id="{44BB81AE-EE4A-4AA4-8941-104B6C94359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6138" y="488137"/>
            <a:ext cx="11227442" cy="5883295"/>
          </a:xfrm>
          <a:prstGeom prst="rect">
            <a:avLst/>
          </a:prstGeom>
          <a:solidFill>
            <a:schemeClr val="tx2"/>
          </a:solidFill>
          <a:ln>
            <a:noFill/>
          </a:ln>
          <a:effectLst>
            <a:outerShdw blurRad="114300" dist="127000" dir="5400000" sx="99000" sy="99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4" name="Picture 3" descr="Colorful 3D rendering of triangles">
            <a:extLst>
              <a:ext uri="{FF2B5EF4-FFF2-40B4-BE49-F238E27FC236}">
                <a16:creationId xmlns:a16="http://schemas.microsoft.com/office/drawing/2014/main" xmlns="" id="{402D8048-122A-49A1-BF1A-2A2D80030C8B}"/>
              </a:ext>
            </a:extLst>
          </p:cNvPr>
          <p:cNvPicPr>
            <a:picLocks noChangeAspect="1"/>
          </p:cNvPicPr>
          <p:nvPr/>
        </p:nvPicPr>
        <p:blipFill rotWithShape="1">
          <a:blip r:embed="rId3">
            <a:alphaModFix amt="50000"/>
          </a:blip>
          <a:srcRect t="17523" r="1" b="3975"/>
          <a:stretch/>
        </p:blipFill>
        <p:spPr>
          <a:xfrm>
            <a:off x="0" y="1"/>
            <a:ext cx="12231388" cy="6895940"/>
          </a:xfrm>
          <a:prstGeom prst="rect">
            <a:avLst/>
          </a:prstGeom>
        </p:spPr>
      </p:pic>
      <p:cxnSp>
        <p:nvCxnSpPr>
          <p:cNvPr id="24" name="Straight Connector 12">
            <a:extLst>
              <a:ext uri="{FF2B5EF4-FFF2-40B4-BE49-F238E27FC236}">
                <a16:creationId xmlns:a16="http://schemas.microsoft.com/office/drawing/2014/main" xmlns="" id="{4AA791FC-1AEF-4561-93B5-6B9E981BBB74}"/>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2621280" y="3594428"/>
            <a:ext cx="694944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xmlns="" id="{AAA2202F-2A68-464D-8E53-CEBE9303D84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08012" y="609600"/>
            <a:ext cx="10972800" cy="5638800"/>
          </a:xfrm>
          <a:prstGeom prst="rect">
            <a:avLst/>
          </a:prstGeom>
          <a:noFill/>
          <a:ln w="15875" cap="flat">
            <a:solidFill>
              <a:schemeClr val="bg1"/>
            </a:solidFill>
            <a:miter lim="800000"/>
          </a:ln>
        </p:spPr>
        <p:style>
          <a:lnRef idx="1">
            <a:schemeClr val="accent1"/>
          </a:lnRef>
          <a:fillRef idx="3">
            <a:schemeClr val="accent1"/>
          </a:fillRef>
          <a:effectRef idx="2">
            <a:schemeClr val="accent1"/>
          </a:effectRef>
          <a:fontRef idx="minor">
            <a:schemeClr val="lt1"/>
          </a:fontRef>
        </p:style>
      </p:sp>
      <p:grpSp>
        <p:nvGrpSpPr>
          <p:cNvPr id="17" name="Group 16">
            <a:extLst>
              <a:ext uri="{FF2B5EF4-FFF2-40B4-BE49-F238E27FC236}">
                <a16:creationId xmlns:a16="http://schemas.microsoft.com/office/drawing/2014/main" xmlns="" id="{5B129734-DF6D-46B8-A0E0-4F178B3AD2FC}"/>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0" y="3128956"/>
            <a:ext cx="12234672" cy="658368"/>
            <a:chOff x="-18288" y="3128956"/>
            <a:chExt cx="12234672" cy="658368"/>
          </a:xfrm>
        </p:grpSpPr>
        <p:sp useBgFill="1">
          <p:nvSpPr>
            <p:cNvPr id="18" name="Rounded Rectangle 21">
              <a:extLst>
                <a:ext uri="{FF2B5EF4-FFF2-40B4-BE49-F238E27FC236}">
                  <a16:creationId xmlns:a16="http://schemas.microsoft.com/office/drawing/2014/main" xmlns="" id="{6A986578-4991-4E9B-94B7-056F6B09B77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732303"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5" name="Picture 18">
              <a:extLst>
                <a:ext uri="{FF2B5EF4-FFF2-40B4-BE49-F238E27FC236}">
                  <a16:creationId xmlns:a16="http://schemas.microsoft.com/office/drawing/2014/main" xmlns="" id="{257D0097-ACF2-46A6-804C-C5D55A188FE5}"/>
                </a:ext>
                <a:ext uri="{C183D7F6-B498-43B3-948B-1728B52AA6E4}">
                  <adec:decorative xmlns:adec="http://schemas.microsoft.com/office/drawing/2017/decorative" xmlns="" val="1"/>
                </a:ext>
              </a:extLst>
            </p:cNvPr>
            <p:cNvPicPr>
              <a:picLocks noChangeAspect="1"/>
            </p:cNvPicPr>
            <p:nvPr>
              <p:extLst>
                <p:ext uri="{386F3935-93C4-4BCD-93E2-E3B085C9AB24}">
                  <p16:designElem xmlns:p16="http://schemas.microsoft.com/office/powerpoint/2015/main" xmlns="" val="1"/>
                </p:ext>
              </p:extLst>
            </p:nvPr>
          </p:nvPicPr>
          <p:blipFill rotWithShape="1">
            <a:blip r:embed="rId4">
              <a:extLst>
                <a:ext uri="{28A0092B-C50C-407E-A947-70E740481C1C}">
                  <a14:useLocalDpi xmlns:a14="http://schemas.microsoft.com/office/drawing/2010/main" val="0"/>
                </a:ext>
              </a:extLst>
            </a:blip>
            <a:srcRect/>
            <a:stretch/>
          </p:blipFill>
          <p:spPr>
            <a:xfrm>
              <a:off x="-18288" y="3154680"/>
              <a:ext cx="777240" cy="606425"/>
            </a:xfrm>
            <a:prstGeom prst="rect">
              <a:avLst/>
            </a:prstGeom>
          </p:spPr>
        </p:pic>
        <p:sp useBgFill="1">
          <p:nvSpPr>
            <p:cNvPr id="20" name="Rounded Rectangle 27">
              <a:extLst>
                <a:ext uri="{FF2B5EF4-FFF2-40B4-BE49-F238E27FC236}">
                  <a16:creationId xmlns:a16="http://schemas.microsoft.com/office/drawing/2014/main" xmlns="" id="{A71DA5EB-109A-4C2F-A093-7E5F6490BD7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1414377"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1" name="Picture 20">
              <a:extLst>
                <a:ext uri="{FF2B5EF4-FFF2-40B4-BE49-F238E27FC236}">
                  <a16:creationId xmlns:a16="http://schemas.microsoft.com/office/drawing/2014/main" xmlns="" id="{DA85B8CE-EB01-4DD0-8B39-D413503D772C}"/>
                </a:ext>
                <a:ext uri="{C183D7F6-B498-43B3-948B-1728B52AA6E4}">
                  <adec:decorative xmlns:adec="http://schemas.microsoft.com/office/drawing/2017/decorative" xmlns="" val="1"/>
                </a:ext>
              </a:extLst>
            </p:cNvPr>
            <p:cNvPicPr>
              <a:picLocks noChangeAspect="1"/>
            </p:cNvPicPr>
            <p:nvPr>
              <p:extLst>
                <p:ext uri="{386F3935-93C4-4BCD-93E2-E3B085C9AB24}">
                  <p16:designElem xmlns:p16="http://schemas.microsoft.com/office/powerpoint/2015/main" xmlns="" val="1"/>
                </p:ext>
              </p:extLst>
            </p:nvPr>
          </p:nvPicPr>
          <p:blipFill rotWithShape="1">
            <a:blip r:embed="rId4">
              <a:extLst>
                <a:ext uri="{28A0092B-C50C-407E-A947-70E740481C1C}">
                  <a14:useLocalDpi xmlns:a14="http://schemas.microsoft.com/office/drawing/2010/main" val="0"/>
                </a:ext>
              </a:extLst>
            </a:blip>
            <a:srcRect/>
            <a:stretch/>
          </p:blipFill>
          <p:spPr>
            <a:xfrm flipH="1">
              <a:off x="11439144" y="3154680"/>
              <a:ext cx="777240" cy="606425"/>
            </a:xfrm>
            <a:prstGeom prst="rect">
              <a:avLst/>
            </a:prstGeom>
          </p:spPr>
        </p:pic>
      </p:grpSp>
      <p:sp>
        <p:nvSpPr>
          <p:cNvPr id="2" name="Title 1">
            <a:extLst>
              <a:ext uri="{FF2B5EF4-FFF2-40B4-BE49-F238E27FC236}">
                <a16:creationId xmlns:a16="http://schemas.microsoft.com/office/drawing/2014/main" xmlns="" id="{8F08F6BC-4799-4F51-8425-E945E33B22D5}"/>
              </a:ext>
            </a:extLst>
          </p:cNvPr>
          <p:cNvSpPr>
            <a:spLocks noGrp="1"/>
          </p:cNvSpPr>
          <p:nvPr>
            <p:ph type="ctrTitle"/>
          </p:nvPr>
        </p:nvSpPr>
        <p:spPr>
          <a:xfrm>
            <a:off x="2224403" y="1113698"/>
            <a:ext cx="8229600" cy="1320798"/>
          </a:xfrm>
        </p:spPr>
        <p:txBody>
          <a:bodyPr>
            <a:normAutofit/>
          </a:bodyPr>
          <a:lstStyle/>
          <a:p>
            <a:r>
              <a:rPr lang="en-US" sz="7200" dirty="0">
                <a:solidFill>
                  <a:schemeClr val="bg1"/>
                </a:solidFill>
                <a:latin typeface="Comic Sans MS" panose="030F0702030302020204" pitchFamily="66" charset="0"/>
              </a:rPr>
              <a:t>UrbanSpoon</a:t>
            </a:r>
            <a:endParaRPr lang="en-IN" sz="7200" dirty="0">
              <a:solidFill>
                <a:schemeClr val="bg1"/>
              </a:solidFill>
              <a:latin typeface="Comic Sans MS" panose="030F0702030302020204" pitchFamily="66" charset="0"/>
            </a:endParaRPr>
          </a:p>
        </p:txBody>
      </p:sp>
      <p:sp>
        <p:nvSpPr>
          <p:cNvPr id="3" name="Subtitle 2">
            <a:extLst>
              <a:ext uri="{FF2B5EF4-FFF2-40B4-BE49-F238E27FC236}">
                <a16:creationId xmlns:a16="http://schemas.microsoft.com/office/drawing/2014/main" xmlns="" id="{1FFB65BE-D8FD-4E4B-95CB-FB1EDC19C291}"/>
              </a:ext>
            </a:extLst>
          </p:cNvPr>
          <p:cNvSpPr>
            <a:spLocks noGrp="1"/>
          </p:cNvSpPr>
          <p:nvPr>
            <p:ph type="subTitle" idx="1"/>
          </p:nvPr>
        </p:nvSpPr>
        <p:spPr>
          <a:xfrm>
            <a:off x="2453003" y="3154680"/>
            <a:ext cx="7772400" cy="1896016"/>
          </a:xfrm>
        </p:spPr>
        <p:txBody>
          <a:bodyPr>
            <a:normAutofit/>
          </a:bodyPr>
          <a:lstStyle/>
          <a:p>
            <a:r>
              <a:rPr lang="en-US" dirty="0">
                <a:solidFill>
                  <a:schemeClr val="bg1"/>
                </a:solidFill>
              </a:rPr>
              <a:t>Find Your Foody Way</a:t>
            </a:r>
            <a:endParaRPr lang="en-IN" dirty="0">
              <a:solidFill>
                <a:schemeClr val="bg1"/>
              </a:solidFill>
            </a:endParaRPr>
          </a:p>
        </p:txBody>
      </p:sp>
      <p:pic>
        <p:nvPicPr>
          <p:cNvPr id="10" name="Picture 9">
            <a:extLst>
              <a:ext uri="{FF2B5EF4-FFF2-40B4-BE49-F238E27FC236}">
                <a16:creationId xmlns:a16="http://schemas.microsoft.com/office/drawing/2014/main" xmlns="" id="{8CDFFD24-A00E-4209-8E94-1AAB550982FA}"/>
              </a:ext>
            </a:extLst>
          </p:cNvPr>
          <p:cNvPicPr>
            <a:picLocks noChangeAspect="1"/>
          </p:cNvPicPr>
          <p:nvPr/>
        </p:nvPicPr>
        <p:blipFill>
          <a:blip r:embed="rId5"/>
          <a:stretch>
            <a:fillRect/>
          </a:stretch>
        </p:blipFill>
        <p:spPr>
          <a:xfrm>
            <a:off x="5043736" y="3787324"/>
            <a:ext cx="2590933" cy="1911448"/>
          </a:xfrm>
          <a:prstGeom prst="rect">
            <a:avLst/>
          </a:prstGeom>
        </p:spPr>
      </p:pic>
    </p:spTree>
    <p:extLst>
      <p:ext uri="{BB962C8B-B14F-4D97-AF65-F5344CB8AC3E}">
        <p14:creationId xmlns:p14="http://schemas.microsoft.com/office/powerpoint/2010/main" val="4197267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AF8C29-B39E-4C97-A085-884A0BEC519C}"/>
              </a:ext>
            </a:extLst>
          </p:cNvPr>
          <p:cNvSpPr>
            <a:spLocks noGrp="1"/>
          </p:cNvSpPr>
          <p:nvPr>
            <p:ph type="title"/>
          </p:nvPr>
        </p:nvSpPr>
        <p:spPr>
          <a:xfrm>
            <a:off x="1295402" y="982132"/>
            <a:ext cx="9601196" cy="1298731"/>
          </a:xfrm>
        </p:spPr>
        <p:txBody>
          <a:bodyPr/>
          <a:lstStyle/>
          <a:p>
            <a:pPr algn="ctr"/>
            <a:r>
              <a:rPr lang="en-US" b="1" dirty="0"/>
              <a:t>About the </a:t>
            </a:r>
            <a:r>
              <a:rPr lang="en-US" b="1" dirty="0" smtClean="0"/>
              <a:t>project</a:t>
            </a:r>
            <a:endParaRPr lang="en-IN" b="1" dirty="0"/>
          </a:p>
        </p:txBody>
      </p:sp>
      <p:sp>
        <p:nvSpPr>
          <p:cNvPr id="3" name="Content Placeholder 2">
            <a:extLst>
              <a:ext uri="{FF2B5EF4-FFF2-40B4-BE49-F238E27FC236}">
                <a16:creationId xmlns:a16="http://schemas.microsoft.com/office/drawing/2014/main" xmlns="" id="{EF0D1342-4971-4C80-A85D-F92D7BBD2C4A}"/>
              </a:ext>
            </a:extLst>
          </p:cNvPr>
          <p:cNvSpPr>
            <a:spLocks noGrp="1"/>
          </p:cNvSpPr>
          <p:nvPr>
            <p:ph idx="1"/>
          </p:nvPr>
        </p:nvSpPr>
        <p:spPr>
          <a:xfrm>
            <a:off x="1295400" y="2280863"/>
            <a:ext cx="9786041" cy="4264792"/>
          </a:xfrm>
        </p:spPr>
        <p:txBody>
          <a:bodyPr>
            <a:normAutofit/>
          </a:bodyPr>
          <a:lstStyle/>
          <a:p>
            <a:pPr algn="just">
              <a:lnSpc>
                <a:spcPct val="150000"/>
              </a:lnSpc>
            </a:pPr>
            <a:r>
              <a:rPr lang="en-IN" dirty="0">
                <a:effectLst/>
                <a:latin typeface="Adobe Song Std L" panose="02020300000000000000" pitchFamily="18" charset="-128"/>
                <a:ea typeface="Adobe Song Std L" panose="02020300000000000000" pitchFamily="18" charset="-128"/>
              </a:rPr>
              <a:t>UrbanSpoon is a restaurant review website that people can use to find and learn about restaurants in their area based on customer-specific conditions. Recently added, customers can also make online restaurant reservations through the UrbanSpoon system, though this feature is currently only available via mobile or iPad applications. </a:t>
            </a:r>
            <a:r>
              <a:rPr lang="en-IN" dirty="0" smtClean="0">
                <a:effectLst/>
                <a:latin typeface="Adobe Song Std L" panose="02020300000000000000" pitchFamily="18" charset="-128"/>
                <a:ea typeface="Adobe Song Std L" panose="02020300000000000000" pitchFamily="18" charset="-128"/>
              </a:rPr>
              <a:t>As </a:t>
            </a:r>
            <a:r>
              <a:rPr lang="en-IN" dirty="0">
                <a:effectLst/>
                <a:latin typeface="Adobe Song Std L" panose="02020300000000000000" pitchFamily="18" charset="-128"/>
                <a:ea typeface="Adobe Song Std L" panose="02020300000000000000" pitchFamily="18" charset="-128"/>
              </a:rPr>
              <a:t>there are several other similar Web sites including Yelp, Open Table, Metro mix and Time Out, it is important for Urban spoon to monitor where it stands with users in the restaurant review market to take the appropriate actions to stay competitive. The usability of its Web site is one of the most important factors which affect its competitiveness.</a:t>
            </a:r>
          </a:p>
          <a:p>
            <a:pPr algn="just"/>
            <a:endParaRPr lang="en-IN" dirty="0"/>
          </a:p>
        </p:txBody>
      </p:sp>
    </p:spTree>
    <p:extLst>
      <p:ext uri="{BB962C8B-B14F-4D97-AF65-F5344CB8AC3E}">
        <p14:creationId xmlns:p14="http://schemas.microsoft.com/office/powerpoint/2010/main" val="25041756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1D9D95-E221-41ED-940D-244224E54AB8}"/>
              </a:ext>
            </a:extLst>
          </p:cNvPr>
          <p:cNvSpPr>
            <a:spLocks noGrp="1"/>
          </p:cNvSpPr>
          <p:nvPr>
            <p:ph type="title"/>
          </p:nvPr>
        </p:nvSpPr>
        <p:spPr>
          <a:xfrm>
            <a:off x="1295402" y="982132"/>
            <a:ext cx="9601196" cy="1298731"/>
          </a:xfrm>
        </p:spPr>
        <p:txBody>
          <a:bodyPr/>
          <a:lstStyle/>
          <a:p>
            <a:pPr algn="ctr"/>
            <a:r>
              <a:rPr lang="en-US" b="1" dirty="0" smtClean="0"/>
              <a:t>Objective</a:t>
            </a:r>
            <a:endParaRPr lang="en-IN" b="1" dirty="0"/>
          </a:p>
        </p:txBody>
      </p:sp>
      <p:sp>
        <p:nvSpPr>
          <p:cNvPr id="3" name="Content Placeholder 2">
            <a:extLst>
              <a:ext uri="{FF2B5EF4-FFF2-40B4-BE49-F238E27FC236}">
                <a16:creationId xmlns:a16="http://schemas.microsoft.com/office/drawing/2014/main" xmlns="" id="{6BCC828F-F4C3-49BC-8F8D-343BEC52A540}"/>
              </a:ext>
            </a:extLst>
          </p:cNvPr>
          <p:cNvSpPr>
            <a:spLocks noGrp="1"/>
          </p:cNvSpPr>
          <p:nvPr>
            <p:ph idx="1"/>
          </p:nvPr>
        </p:nvSpPr>
        <p:spPr>
          <a:xfrm>
            <a:off x="1371600" y="2286000"/>
            <a:ext cx="9601200" cy="3942784"/>
          </a:xfrm>
        </p:spPr>
        <p:txBody>
          <a:bodyPr>
            <a:normAutofit/>
          </a:bodyPr>
          <a:lstStyle/>
          <a:p>
            <a:pPr>
              <a:lnSpc>
                <a:spcPct val="150000"/>
              </a:lnSpc>
            </a:pPr>
            <a:r>
              <a:rPr lang="en-US" dirty="0">
                <a:latin typeface="Adobe Song Std L" panose="02020300000000000000" pitchFamily="18" charset="-128"/>
                <a:ea typeface="Adobe Song Std L" panose="02020300000000000000" pitchFamily="18" charset="-128"/>
              </a:rPr>
              <a:t>Objective of the project is to develop a Web Application for an Online Restaurant finder website by which people new to the city or place will be able to find the best restaurant near him by viewing to the customer review</a:t>
            </a:r>
          </a:p>
          <a:p>
            <a:pPr>
              <a:lnSpc>
                <a:spcPct val="150000"/>
              </a:lnSpc>
            </a:pPr>
            <a:r>
              <a:rPr lang="en-IN" dirty="0">
                <a:effectLst/>
                <a:latin typeface="Adobe Song Std L" panose="02020300000000000000" pitchFamily="18" charset="-128"/>
                <a:ea typeface="Adobe Song Std L" panose="02020300000000000000" pitchFamily="18" charset="-128"/>
              </a:rPr>
              <a:t>Recently added, customers can also make online restaurant reservations through the UrbanSpoon system</a:t>
            </a:r>
          </a:p>
          <a:p>
            <a:pPr>
              <a:lnSpc>
                <a:spcPct val="150000"/>
              </a:lnSpc>
            </a:pPr>
            <a:r>
              <a:rPr lang="en-IN" dirty="0">
                <a:latin typeface="Adobe Song Std L" panose="02020300000000000000" pitchFamily="18" charset="-128"/>
                <a:ea typeface="Adobe Song Std L" panose="02020300000000000000" pitchFamily="18" charset="-128"/>
              </a:rPr>
              <a:t>Users can also book their dining through the website if they are impressed customers review and the features provided at the website </a:t>
            </a:r>
          </a:p>
        </p:txBody>
      </p:sp>
    </p:spTree>
    <p:extLst>
      <p:ext uri="{BB962C8B-B14F-4D97-AF65-F5344CB8AC3E}">
        <p14:creationId xmlns:p14="http://schemas.microsoft.com/office/powerpoint/2010/main" val="11239170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1A8729-E299-4AAA-965A-6D21E514CA3D}"/>
              </a:ext>
            </a:extLst>
          </p:cNvPr>
          <p:cNvSpPr>
            <a:spLocks noGrp="1"/>
          </p:cNvSpPr>
          <p:nvPr>
            <p:ph type="title"/>
          </p:nvPr>
        </p:nvSpPr>
        <p:spPr/>
        <p:txBody>
          <a:bodyPr/>
          <a:lstStyle/>
          <a:p>
            <a:pPr algn="ctr"/>
            <a:r>
              <a:rPr lang="en-US" b="1" dirty="0"/>
              <a:t>Organization of the </a:t>
            </a:r>
            <a:r>
              <a:rPr lang="en-US" b="1" dirty="0" smtClean="0"/>
              <a:t>Project</a:t>
            </a:r>
            <a:endParaRPr lang="en-IN" b="1" dirty="0"/>
          </a:p>
        </p:txBody>
      </p:sp>
      <p:sp>
        <p:nvSpPr>
          <p:cNvPr id="3" name="Content Placeholder 2">
            <a:extLst>
              <a:ext uri="{FF2B5EF4-FFF2-40B4-BE49-F238E27FC236}">
                <a16:creationId xmlns:a16="http://schemas.microsoft.com/office/drawing/2014/main" xmlns="" id="{0C93CC91-C3C9-4AC5-966A-2C7075460C83}"/>
              </a:ext>
            </a:extLst>
          </p:cNvPr>
          <p:cNvSpPr>
            <a:spLocks noGrp="1"/>
          </p:cNvSpPr>
          <p:nvPr>
            <p:ph idx="1"/>
          </p:nvPr>
        </p:nvSpPr>
        <p:spPr/>
        <p:txBody>
          <a:bodyPr/>
          <a:lstStyle/>
          <a:p>
            <a:pPr>
              <a:lnSpc>
                <a:spcPct val="150000"/>
              </a:lnSpc>
            </a:pPr>
            <a:r>
              <a:rPr lang="en-US" dirty="0">
                <a:latin typeface="Adobe Song Std L" panose="02020300000000000000" pitchFamily="18" charset="-128"/>
                <a:ea typeface="Adobe Song Std L" panose="02020300000000000000" pitchFamily="18" charset="-128"/>
              </a:rPr>
              <a:t>In this project we have developed an Online Portal website names UrbanSpoon, which finds a way to choose best restaurant</a:t>
            </a:r>
          </a:p>
          <a:p>
            <a:pPr>
              <a:lnSpc>
                <a:spcPct val="150000"/>
              </a:lnSpc>
            </a:pPr>
            <a:r>
              <a:rPr lang="en-US" dirty="0">
                <a:latin typeface="Adobe Song Std L" panose="02020300000000000000" pitchFamily="18" charset="-128"/>
                <a:ea typeface="Adobe Song Std L" panose="02020300000000000000" pitchFamily="18" charset="-128"/>
              </a:rPr>
              <a:t>It contains various web pages that are generated in real-time.</a:t>
            </a:r>
          </a:p>
          <a:p>
            <a:pPr>
              <a:lnSpc>
                <a:spcPct val="150000"/>
              </a:lnSpc>
            </a:pPr>
            <a:r>
              <a:rPr lang="en-US" dirty="0">
                <a:ea typeface="Adobe Song Std L" panose="02020300000000000000"/>
              </a:rPr>
              <a:t>These pages use various Web technologies such as HTML, CSS, JS for form validations; </a:t>
            </a:r>
            <a:r>
              <a:rPr lang="en-US" dirty="0" smtClean="0">
                <a:ea typeface="Adobe Song Std L" panose="02020300000000000000"/>
              </a:rPr>
              <a:t>Servlets </a:t>
            </a:r>
            <a:r>
              <a:rPr lang="en-US" dirty="0">
                <a:ea typeface="Adobe Song Std L" panose="02020300000000000000"/>
              </a:rPr>
              <a:t>as the business layer technologies; MySQL as the Database.</a:t>
            </a:r>
            <a:endParaRPr lang="en-IN" dirty="0">
              <a:latin typeface="Adobe Song Std L" panose="02020300000000000000" pitchFamily="18" charset="-128"/>
              <a:ea typeface="Adobe Song Std L" panose="02020300000000000000"/>
            </a:endParaRPr>
          </a:p>
        </p:txBody>
      </p:sp>
    </p:spTree>
    <p:extLst>
      <p:ext uri="{BB962C8B-B14F-4D97-AF65-F5344CB8AC3E}">
        <p14:creationId xmlns:p14="http://schemas.microsoft.com/office/powerpoint/2010/main" val="39737943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Abstract</a:t>
            </a:r>
            <a:endParaRPr lang="en-IN" b="1" dirty="0"/>
          </a:p>
        </p:txBody>
      </p:sp>
      <p:sp>
        <p:nvSpPr>
          <p:cNvPr id="3" name="Content Placeholder 2"/>
          <p:cNvSpPr>
            <a:spLocks noGrp="1"/>
          </p:cNvSpPr>
          <p:nvPr>
            <p:ph idx="1"/>
          </p:nvPr>
        </p:nvSpPr>
        <p:spPr>
          <a:xfrm>
            <a:off x="1371599" y="1774479"/>
            <a:ext cx="10497493" cy="5083521"/>
          </a:xfrm>
        </p:spPr>
        <p:txBody>
          <a:bodyPr/>
          <a:lstStyle/>
          <a:p>
            <a:r>
              <a:rPr lang="en-US" dirty="0" smtClean="0"/>
              <a:t>In this urban spoon project we will show list of restaurants, from where a customer can choose to book a table or rate a restaurant.</a:t>
            </a:r>
          </a:p>
          <a:p>
            <a:r>
              <a:rPr lang="en-US" dirty="0" smtClean="0"/>
              <a:t>User will be redirected to home page of our software from index page where user can choose to login or register.</a:t>
            </a:r>
          </a:p>
          <a:p>
            <a:r>
              <a:rPr lang="en-US" dirty="0" smtClean="0"/>
              <a:t>User will be redirected to register page if user is new to software or can directly login using credentials stored in database stored from register page.</a:t>
            </a:r>
          </a:p>
          <a:p>
            <a:r>
              <a:rPr lang="en-US" dirty="0" smtClean="0"/>
              <a:t>Through login we can be differentiate whether user is already signed up or not yet signed up or admin!</a:t>
            </a:r>
          </a:p>
          <a:p>
            <a:r>
              <a:rPr lang="en-US" dirty="0" smtClean="0"/>
              <a:t>If user is admin, he will be shown options like manage bookings, manage users and logout.</a:t>
            </a:r>
          </a:p>
          <a:p>
            <a:r>
              <a:rPr lang="en-US" dirty="0" smtClean="0"/>
              <a:t>Through manage bookings admin can accept or cancel customer’s bookings.</a:t>
            </a:r>
          </a:p>
          <a:p>
            <a:r>
              <a:rPr lang="en-US" dirty="0" smtClean="0"/>
              <a:t>Through manage users admin can remove any customer’s account.</a:t>
            </a:r>
          </a:p>
          <a:p>
            <a:endParaRPr lang="en-US" dirty="0" smtClean="0"/>
          </a:p>
          <a:p>
            <a:endParaRPr lang="en-IN" dirty="0"/>
          </a:p>
        </p:txBody>
      </p:sp>
    </p:spTree>
    <p:extLst>
      <p:ext uri="{BB962C8B-B14F-4D97-AF65-F5344CB8AC3E}">
        <p14:creationId xmlns:p14="http://schemas.microsoft.com/office/powerpoint/2010/main" val="38596924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Abstract</a:t>
            </a:r>
            <a:endParaRPr lang="en-IN" dirty="0"/>
          </a:p>
        </p:txBody>
      </p:sp>
      <p:sp>
        <p:nvSpPr>
          <p:cNvPr id="3" name="Content Placeholder 2"/>
          <p:cNvSpPr>
            <a:spLocks noGrp="1"/>
          </p:cNvSpPr>
          <p:nvPr>
            <p:ph idx="1"/>
          </p:nvPr>
        </p:nvSpPr>
        <p:spPr>
          <a:xfrm>
            <a:off x="1371600" y="2285999"/>
            <a:ext cx="9601200" cy="3897517"/>
          </a:xfrm>
        </p:spPr>
        <p:txBody>
          <a:bodyPr/>
          <a:lstStyle/>
          <a:p>
            <a:r>
              <a:rPr lang="en-US" dirty="0" smtClean="0"/>
              <a:t>If user is customer, he will be given options like MyBookings, Profile, rate a restaurant, book for a occasion in restaurant and logout .</a:t>
            </a:r>
          </a:p>
          <a:p>
            <a:r>
              <a:rPr lang="en-US" dirty="0" smtClean="0"/>
              <a:t>Profile shows details of current user.</a:t>
            </a:r>
          </a:p>
          <a:p>
            <a:r>
              <a:rPr lang="en-US" dirty="0" smtClean="0"/>
              <a:t>User can rate a restaurant from his previous experience in the form of stars.</a:t>
            </a:r>
          </a:p>
          <a:p>
            <a:r>
              <a:rPr lang="en-US" dirty="0" smtClean="0"/>
              <a:t>User can book tables after filling the required details and check for status in MyBookings.</a:t>
            </a:r>
          </a:p>
          <a:p>
            <a:endParaRPr lang="en-IN" dirty="0"/>
          </a:p>
        </p:txBody>
      </p:sp>
    </p:spTree>
    <p:extLst>
      <p:ext uri="{BB962C8B-B14F-4D97-AF65-F5344CB8AC3E}">
        <p14:creationId xmlns:p14="http://schemas.microsoft.com/office/powerpoint/2010/main" val="11595046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Modules</a:t>
            </a:r>
            <a:endParaRPr lang="en-IN" b="1" dirty="0"/>
          </a:p>
        </p:txBody>
      </p:sp>
      <p:sp>
        <p:nvSpPr>
          <p:cNvPr id="3" name="Content Placeholder 2"/>
          <p:cNvSpPr>
            <a:spLocks noGrp="1"/>
          </p:cNvSpPr>
          <p:nvPr>
            <p:ph idx="1"/>
          </p:nvPr>
        </p:nvSpPr>
        <p:spPr>
          <a:xfrm>
            <a:off x="1371600" y="1955549"/>
            <a:ext cx="9601200" cy="4716855"/>
          </a:xfrm>
        </p:spPr>
        <p:txBody>
          <a:bodyPr>
            <a:normAutofit/>
          </a:bodyPr>
          <a:lstStyle/>
          <a:p>
            <a:r>
              <a:rPr lang="en-US" dirty="0" smtClean="0"/>
              <a:t>Index Page</a:t>
            </a:r>
            <a:endParaRPr lang="en-US" dirty="0" smtClean="0"/>
          </a:p>
          <a:p>
            <a:r>
              <a:rPr lang="en-US" dirty="0" smtClean="0"/>
              <a:t>Admin Login</a:t>
            </a:r>
          </a:p>
          <a:p>
            <a:r>
              <a:rPr lang="en-US" dirty="0" smtClean="0"/>
              <a:t>Registration Page</a:t>
            </a:r>
          </a:p>
          <a:p>
            <a:r>
              <a:rPr lang="en-US" dirty="0" smtClean="0"/>
              <a:t>User or customer Login</a:t>
            </a:r>
          </a:p>
          <a:p>
            <a:r>
              <a:rPr lang="en-US" dirty="0" smtClean="0"/>
              <a:t>Home Page</a:t>
            </a:r>
          </a:p>
          <a:p>
            <a:r>
              <a:rPr lang="en-US" dirty="0" smtClean="0"/>
              <a:t>Online </a:t>
            </a:r>
            <a:r>
              <a:rPr lang="en-US" dirty="0" smtClean="0"/>
              <a:t>Booking</a:t>
            </a:r>
          </a:p>
          <a:p>
            <a:r>
              <a:rPr lang="en-US" dirty="0" smtClean="0"/>
              <a:t>Rate the restaurant</a:t>
            </a:r>
            <a:endParaRPr lang="en-US" dirty="0" smtClean="0"/>
          </a:p>
          <a:p>
            <a:r>
              <a:rPr lang="en-US" dirty="0" smtClean="0"/>
              <a:t>Manage Bookings</a:t>
            </a:r>
          </a:p>
          <a:p>
            <a:r>
              <a:rPr lang="en-US" dirty="0" smtClean="0"/>
              <a:t>Manage Users</a:t>
            </a:r>
          </a:p>
          <a:p>
            <a:r>
              <a:rPr lang="en-US" dirty="0" smtClean="0"/>
              <a:t>Logout</a:t>
            </a:r>
          </a:p>
          <a:p>
            <a:endParaRPr lang="en-IN" dirty="0"/>
          </a:p>
        </p:txBody>
      </p:sp>
    </p:spTree>
    <p:extLst>
      <p:ext uri="{BB962C8B-B14F-4D97-AF65-F5344CB8AC3E}">
        <p14:creationId xmlns:p14="http://schemas.microsoft.com/office/powerpoint/2010/main" val="32335090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Module wise description</a:t>
            </a:r>
            <a:endParaRPr lang="en-IN" dirty="0"/>
          </a:p>
        </p:txBody>
      </p:sp>
      <p:sp>
        <p:nvSpPr>
          <p:cNvPr id="3" name="Content Placeholder 2"/>
          <p:cNvSpPr>
            <a:spLocks noGrp="1"/>
          </p:cNvSpPr>
          <p:nvPr>
            <p:ph idx="1"/>
          </p:nvPr>
        </p:nvSpPr>
        <p:spPr>
          <a:xfrm>
            <a:off x="1371600" y="1548143"/>
            <a:ext cx="9601200" cy="2888055"/>
          </a:xfrm>
        </p:spPr>
        <p:txBody>
          <a:bodyPr/>
          <a:lstStyle/>
          <a:p>
            <a:r>
              <a:rPr lang="en-US" dirty="0" smtClean="0"/>
              <a:t>Index Page:</a:t>
            </a:r>
          </a:p>
          <a:p>
            <a:pPr lvl="1"/>
            <a:r>
              <a:rPr lang="en-US" dirty="0" smtClean="0"/>
              <a:t>On opening the project, the first module will be index page which has links which allows users, admin to login or register.</a:t>
            </a:r>
          </a:p>
          <a:p>
            <a:pPr lvl="1"/>
            <a:r>
              <a:rPr lang="en-US" dirty="0" smtClean="0"/>
              <a:t>It also gives additional buttons through home, about, contact, services, login.</a:t>
            </a:r>
            <a:endParaRPr lang="en-IN" dirty="0"/>
          </a:p>
        </p:txBody>
      </p:sp>
      <p:pic>
        <p:nvPicPr>
          <p:cNvPr id="4" name="Picture 3"/>
          <p:cNvPicPr>
            <a:picLocks noChangeAspect="1"/>
          </p:cNvPicPr>
          <p:nvPr/>
        </p:nvPicPr>
        <p:blipFill>
          <a:blip r:embed="rId2"/>
          <a:stretch>
            <a:fillRect/>
          </a:stretch>
        </p:blipFill>
        <p:spPr>
          <a:xfrm>
            <a:off x="2826673" y="3294683"/>
            <a:ext cx="6248942" cy="3328704"/>
          </a:xfrm>
          <a:prstGeom prst="rect">
            <a:avLst/>
          </a:prstGeom>
        </p:spPr>
      </p:pic>
    </p:spTree>
    <p:extLst>
      <p:ext uri="{BB962C8B-B14F-4D97-AF65-F5344CB8AC3E}">
        <p14:creationId xmlns:p14="http://schemas.microsoft.com/office/powerpoint/2010/main" val="32469114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Module wise description</a:t>
            </a:r>
          </a:p>
        </p:txBody>
      </p:sp>
      <p:sp>
        <p:nvSpPr>
          <p:cNvPr id="3" name="Content Placeholder 2"/>
          <p:cNvSpPr>
            <a:spLocks noGrp="1"/>
          </p:cNvSpPr>
          <p:nvPr>
            <p:ph idx="1"/>
          </p:nvPr>
        </p:nvSpPr>
        <p:spPr>
          <a:xfrm>
            <a:off x="1295400" y="1783532"/>
            <a:ext cx="10528425" cy="4653481"/>
          </a:xfrm>
        </p:spPr>
        <p:txBody>
          <a:bodyPr>
            <a:normAutofit/>
          </a:bodyPr>
          <a:lstStyle/>
          <a:p>
            <a:r>
              <a:rPr lang="en-US" dirty="0" smtClean="0"/>
              <a:t>Admin Login:</a:t>
            </a:r>
          </a:p>
          <a:p>
            <a:pPr lvl="1"/>
            <a:r>
              <a:rPr lang="en-US" dirty="0" smtClean="0"/>
              <a:t>Our project will have an admin who will be able to details used for registration by the customer or user.</a:t>
            </a:r>
          </a:p>
          <a:p>
            <a:pPr lvl="1"/>
            <a:r>
              <a:rPr lang="en-US" dirty="0" smtClean="0"/>
              <a:t>Admin can update and delete the user information from database</a:t>
            </a:r>
            <a:endParaRPr lang="en-US" dirty="0"/>
          </a:p>
          <a:p>
            <a:endParaRPr lang="en-US" dirty="0" smtClean="0"/>
          </a:p>
          <a:p>
            <a:endParaRPr lang="en-IN" dirty="0"/>
          </a:p>
        </p:txBody>
      </p:sp>
      <p:pic>
        <p:nvPicPr>
          <p:cNvPr id="4" name="Picture 3"/>
          <p:cNvPicPr>
            <a:picLocks noChangeAspect="1"/>
          </p:cNvPicPr>
          <p:nvPr/>
        </p:nvPicPr>
        <p:blipFill>
          <a:blip r:embed="rId2"/>
          <a:stretch>
            <a:fillRect/>
          </a:stretch>
        </p:blipFill>
        <p:spPr>
          <a:xfrm>
            <a:off x="2904706" y="3269432"/>
            <a:ext cx="6494120" cy="3461228"/>
          </a:xfrm>
          <a:prstGeom prst="rect">
            <a:avLst/>
          </a:prstGeom>
        </p:spPr>
      </p:pic>
    </p:spTree>
    <p:extLst>
      <p:ext uri="{BB962C8B-B14F-4D97-AF65-F5344CB8AC3E}">
        <p14:creationId xmlns:p14="http://schemas.microsoft.com/office/powerpoint/2010/main" val="7692175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Module wise description</a:t>
            </a:r>
            <a:endParaRPr lang="en-IN" dirty="0"/>
          </a:p>
        </p:txBody>
      </p:sp>
      <p:sp>
        <p:nvSpPr>
          <p:cNvPr id="3" name="Content Placeholder 2"/>
          <p:cNvSpPr>
            <a:spLocks noGrp="1"/>
          </p:cNvSpPr>
          <p:nvPr>
            <p:ph idx="1"/>
          </p:nvPr>
        </p:nvSpPr>
        <p:spPr>
          <a:xfrm>
            <a:off x="1303699" y="1683945"/>
            <a:ext cx="10755517" cy="4997512"/>
          </a:xfrm>
        </p:spPr>
        <p:txBody>
          <a:bodyPr/>
          <a:lstStyle/>
          <a:p>
            <a:r>
              <a:rPr lang="en-US" dirty="0"/>
              <a:t>Registration Page:</a:t>
            </a:r>
          </a:p>
          <a:p>
            <a:pPr lvl="1"/>
            <a:r>
              <a:rPr lang="en-US" dirty="0"/>
              <a:t>A customer or user can register into software only after registering by giving their username, email and password.</a:t>
            </a:r>
          </a:p>
          <a:p>
            <a:pPr lvl="1"/>
            <a:r>
              <a:rPr lang="en-US" dirty="0"/>
              <a:t>These details will be stored into database directly after submission if it is without any errors.</a:t>
            </a:r>
          </a:p>
          <a:p>
            <a:endParaRPr lang="en-IN" dirty="0"/>
          </a:p>
        </p:txBody>
      </p:sp>
      <p:pic>
        <p:nvPicPr>
          <p:cNvPr id="4" name="Picture 3"/>
          <p:cNvPicPr>
            <a:picLocks noChangeAspect="1"/>
          </p:cNvPicPr>
          <p:nvPr/>
        </p:nvPicPr>
        <p:blipFill>
          <a:blip r:embed="rId2"/>
          <a:stretch>
            <a:fillRect/>
          </a:stretch>
        </p:blipFill>
        <p:spPr>
          <a:xfrm>
            <a:off x="2868493" y="3323213"/>
            <a:ext cx="6462269" cy="3444252"/>
          </a:xfrm>
          <a:prstGeom prst="rect">
            <a:avLst/>
          </a:prstGeom>
        </p:spPr>
      </p:pic>
    </p:spTree>
    <p:extLst>
      <p:ext uri="{BB962C8B-B14F-4D97-AF65-F5344CB8AC3E}">
        <p14:creationId xmlns:p14="http://schemas.microsoft.com/office/powerpoint/2010/main" val="14187314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Module wise description</a:t>
            </a:r>
            <a:endParaRPr lang="en-IN" dirty="0"/>
          </a:p>
        </p:txBody>
      </p:sp>
      <p:sp>
        <p:nvSpPr>
          <p:cNvPr id="3" name="Content Placeholder 2"/>
          <p:cNvSpPr>
            <a:spLocks noGrp="1"/>
          </p:cNvSpPr>
          <p:nvPr>
            <p:ph idx="1"/>
          </p:nvPr>
        </p:nvSpPr>
        <p:spPr>
          <a:xfrm>
            <a:off x="1295401" y="1602463"/>
            <a:ext cx="10718548" cy="5187636"/>
          </a:xfrm>
        </p:spPr>
        <p:txBody>
          <a:bodyPr>
            <a:normAutofit/>
          </a:bodyPr>
          <a:lstStyle/>
          <a:p>
            <a:r>
              <a:rPr lang="en-US" dirty="0"/>
              <a:t>User or customer Login</a:t>
            </a:r>
          </a:p>
          <a:p>
            <a:pPr lvl="1"/>
            <a:r>
              <a:rPr lang="en-US" dirty="0" smtClean="0"/>
              <a:t>A particular user or customer can  login into urban spoon if and only if already registered into urban spoon</a:t>
            </a:r>
          </a:p>
          <a:p>
            <a:pPr lvl="1"/>
            <a:r>
              <a:rPr lang="en-US" dirty="0"/>
              <a:t>Login </a:t>
            </a:r>
            <a:r>
              <a:rPr lang="en-US" dirty="0" smtClean="0"/>
              <a:t>credentials username, password should match with those stored in database while registration.</a:t>
            </a:r>
          </a:p>
        </p:txBody>
      </p:sp>
      <p:pic>
        <p:nvPicPr>
          <p:cNvPr id="4" name="Picture 3"/>
          <p:cNvPicPr>
            <a:picLocks noChangeAspect="1"/>
          </p:cNvPicPr>
          <p:nvPr/>
        </p:nvPicPr>
        <p:blipFill>
          <a:blip r:embed="rId2"/>
          <a:stretch>
            <a:fillRect/>
          </a:stretch>
        </p:blipFill>
        <p:spPr>
          <a:xfrm>
            <a:off x="2995241" y="3368846"/>
            <a:ext cx="6576643" cy="3421253"/>
          </a:xfrm>
          <a:prstGeom prst="rect">
            <a:avLst/>
          </a:prstGeom>
        </p:spPr>
      </p:pic>
    </p:spTree>
    <p:extLst>
      <p:ext uri="{BB962C8B-B14F-4D97-AF65-F5344CB8AC3E}">
        <p14:creationId xmlns:p14="http://schemas.microsoft.com/office/powerpoint/2010/main" val="39809968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Error Page</a:t>
            </a:r>
            <a:endParaRPr lang="en-IN" sz="3600" dirty="0"/>
          </a:p>
        </p:txBody>
      </p:sp>
      <p:pic>
        <p:nvPicPr>
          <p:cNvPr id="4" name="Content Placeholder 3"/>
          <p:cNvPicPr>
            <a:picLocks noGrp="1" noChangeAspect="1"/>
          </p:cNvPicPr>
          <p:nvPr>
            <p:ph idx="1"/>
          </p:nvPr>
        </p:nvPicPr>
        <p:blipFill>
          <a:blip r:embed="rId2"/>
          <a:stretch>
            <a:fillRect/>
          </a:stretch>
        </p:blipFill>
        <p:spPr>
          <a:xfrm>
            <a:off x="2814873" y="3137498"/>
            <a:ext cx="7171099" cy="3352489"/>
          </a:xfrm>
          <a:prstGeom prst="rect">
            <a:avLst/>
          </a:prstGeom>
        </p:spPr>
      </p:pic>
      <p:sp>
        <p:nvSpPr>
          <p:cNvPr id="5" name="TextBox 4"/>
          <p:cNvSpPr txBox="1"/>
          <p:nvPr/>
        </p:nvSpPr>
        <p:spPr>
          <a:xfrm>
            <a:off x="1665838" y="1783533"/>
            <a:ext cx="6962114" cy="646331"/>
          </a:xfrm>
          <a:prstGeom prst="rect">
            <a:avLst/>
          </a:prstGeom>
          <a:noFill/>
        </p:spPr>
        <p:txBody>
          <a:bodyPr wrap="square" rtlCol="0">
            <a:spAutoFit/>
          </a:bodyPr>
          <a:lstStyle/>
          <a:p>
            <a:pPr marL="285750" indent="-285750">
              <a:buFont typeface="Wingdings" panose="05000000000000000000" pitchFamily="2" charset="2"/>
              <a:buChar char="q"/>
            </a:pPr>
            <a:r>
              <a:rPr lang="en-US" dirty="0" smtClean="0"/>
              <a:t>If login credentials are given wrong, user will be given three options i.e, login again, register and forgot password.</a:t>
            </a:r>
            <a:endParaRPr lang="en-IN" dirty="0"/>
          </a:p>
        </p:txBody>
      </p:sp>
    </p:spTree>
    <p:extLst>
      <p:ext uri="{BB962C8B-B14F-4D97-AF65-F5344CB8AC3E}">
        <p14:creationId xmlns:p14="http://schemas.microsoft.com/office/powerpoint/2010/main" val="41413977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Module wise description</a:t>
            </a:r>
            <a:endParaRPr lang="en-IN" dirty="0"/>
          </a:p>
        </p:txBody>
      </p:sp>
      <p:sp>
        <p:nvSpPr>
          <p:cNvPr id="3" name="Content Placeholder 2"/>
          <p:cNvSpPr>
            <a:spLocks noGrp="1"/>
          </p:cNvSpPr>
          <p:nvPr>
            <p:ph idx="1"/>
          </p:nvPr>
        </p:nvSpPr>
        <p:spPr>
          <a:xfrm>
            <a:off x="1566250" y="1702050"/>
            <a:ext cx="10420538" cy="4997513"/>
          </a:xfrm>
        </p:spPr>
        <p:txBody>
          <a:bodyPr/>
          <a:lstStyle/>
          <a:p>
            <a:r>
              <a:rPr lang="en-US" dirty="0" smtClean="0"/>
              <a:t>Home </a:t>
            </a:r>
            <a:r>
              <a:rPr lang="en-US" dirty="0"/>
              <a:t>Page</a:t>
            </a:r>
          </a:p>
          <a:p>
            <a:pPr lvl="1"/>
            <a:r>
              <a:rPr lang="en-US" dirty="0"/>
              <a:t>After login, here comes </a:t>
            </a:r>
            <a:r>
              <a:rPr lang="en-US" dirty="0" smtClean="0"/>
              <a:t>home </a:t>
            </a:r>
            <a:r>
              <a:rPr lang="en-US" dirty="0"/>
              <a:t>page which shows restaurants in different locations and shows a option which allows user to know more about it </a:t>
            </a:r>
          </a:p>
          <a:p>
            <a:pPr lvl="1"/>
            <a:r>
              <a:rPr lang="en-US" dirty="0"/>
              <a:t>It also allows users to reserve tables.</a:t>
            </a:r>
            <a:endParaRPr lang="en-IN" dirty="0"/>
          </a:p>
        </p:txBody>
      </p:sp>
      <p:pic>
        <p:nvPicPr>
          <p:cNvPr id="4" name="Picture 3"/>
          <p:cNvPicPr>
            <a:picLocks noChangeAspect="1"/>
          </p:cNvPicPr>
          <p:nvPr/>
        </p:nvPicPr>
        <p:blipFill>
          <a:blip r:embed="rId2"/>
          <a:stretch>
            <a:fillRect/>
          </a:stretch>
        </p:blipFill>
        <p:spPr>
          <a:xfrm>
            <a:off x="3022402" y="3187950"/>
            <a:ext cx="6549438" cy="3511613"/>
          </a:xfrm>
          <a:prstGeom prst="rect">
            <a:avLst/>
          </a:prstGeom>
        </p:spPr>
      </p:pic>
    </p:spTree>
    <p:extLst>
      <p:ext uri="{BB962C8B-B14F-4D97-AF65-F5344CB8AC3E}">
        <p14:creationId xmlns:p14="http://schemas.microsoft.com/office/powerpoint/2010/main" val="5039095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Module wise description</a:t>
            </a:r>
            <a:endParaRPr lang="en-IN" dirty="0"/>
          </a:p>
        </p:txBody>
      </p:sp>
      <p:sp>
        <p:nvSpPr>
          <p:cNvPr id="3" name="Content Placeholder 2"/>
          <p:cNvSpPr>
            <a:spLocks noGrp="1"/>
          </p:cNvSpPr>
          <p:nvPr>
            <p:ph idx="1"/>
          </p:nvPr>
        </p:nvSpPr>
        <p:spPr>
          <a:xfrm>
            <a:off x="1295400" y="1774479"/>
            <a:ext cx="10664227" cy="5083521"/>
          </a:xfrm>
        </p:spPr>
        <p:txBody>
          <a:bodyPr>
            <a:normAutofit/>
          </a:bodyPr>
          <a:lstStyle/>
          <a:p>
            <a:r>
              <a:rPr lang="en-US" dirty="0"/>
              <a:t>Online Booking</a:t>
            </a:r>
            <a:endParaRPr lang="en-IN" dirty="0"/>
          </a:p>
          <a:p>
            <a:pPr lvl="1"/>
            <a:r>
              <a:rPr lang="en-US" dirty="0"/>
              <a:t>User/Customer will be doing pre-booking if they want to reserve through urban spoon.</a:t>
            </a:r>
          </a:p>
          <a:p>
            <a:pPr lvl="1"/>
            <a:r>
              <a:rPr lang="en-US" dirty="0"/>
              <a:t>User will be able to pre-book the place without payment.</a:t>
            </a:r>
          </a:p>
          <a:p>
            <a:pPr lvl="1"/>
            <a:r>
              <a:rPr lang="en-US" dirty="0"/>
              <a:t>User information will be stored in </a:t>
            </a:r>
            <a:r>
              <a:rPr lang="en-US" dirty="0" smtClean="0"/>
              <a:t>database.</a:t>
            </a:r>
            <a:endParaRPr lang="en-US" dirty="0"/>
          </a:p>
          <a:p>
            <a:pPr marL="0" indent="0">
              <a:buNone/>
            </a:pPr>
            <a:endParaRPr lang="en-IN" dirty="0"/>
          </a:p>
        </p:txBody>
      </p:sp>
      <p:pic>
        <p:nvPicPr>
          <p:cNvPr id="4" name="Picture 3"/>
          <p:cNvPicPr>
            <a:picLocks noChangeAspect="1"/>
          </p:cNvPicPr>
          <p:nvPr/>
        </p:nvPicPr>
        <p:blipFill>
          <a:blip r:embed="rId2"/>
          <a:stretch>
            <a:fillRect/>
          </a:stretch>
        </p:blipFill>
        <p:spPr>
          <a:xfrm>
            <a:off x="3049562" y="3861147"/>
            <a:ext cx="5730737" cy="2901948"/>
          </a:xfrm>
          <a:prstGeom prst="rect">
            <a:avLst/>
          </a:prstGeom>
        </p:spPr>
      </p:pic>
    </p:spTree>
    <p:extLst>
      <p:ext uri="{BB962C8B-B14F-4D97-AF65-F5344CB8AC3E}">
        <p14:creationId xmlns:p14="http://schemas.microsoft.com/office/powerpoint/2010/main" val="3231694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b="1" dirty="0"/>
              <a:t>Module wise description</a:t>
            </a:r>
            <a:r>
              <a:rPr lang="en-US" b="1" dirty="0" smtClean="0"/>
              <a:t/>
            </a:r>
            <a:br>
              <a:rPr lang="en-US" b="1" dirty="0" smtClean="0"/>
            </a:br>
            <a:r>
              <a:rPr lang="en-US" b="1" dirty="0" smtClean="0"/>
              <a:t/>
            </a:r>
            <a:br>
              <a:rPr lang="en-US" b="1" dirty="0" smtClean="0"/>
            </a:br>
            <a:r>
              <a:rPr lang="en-US" sz="3200" b="1" dirty="0" smtClean="0"/>
              <a:t>Rating Process</a:t>
            </a:r>
            <a:br>
              <a:rPr lang="en-US" sz="3200" b="1" dirty="0" smtClean="0"/>
            </a:br>
            <a:r>
              <a:rPr lang="en-US" b="1" dirty="0"/>
              <a:t/>
            </a:r>
            <a:br>
              <a:rPr lang="en-US" b="1" dirty="0"/>
            </a:br>
            <a:r>
              <a:rPr lang="en-US" sz="2400" b="1" dirty="0" smtClean="0"/>
              <a:t>First </a:t>
            </a:r>
            <a:r>
              <a:rPr lang="en-US" sz="2400" b="1" dirty="0"/>
              <a:t>time rating</a:t>
            </a:r>
            <a:endParaRPr lang="en-IN" sz="2400" dirty="0"/>
          </a:p>
        </p:txBody>
      </p:sp>
      <p:pic>
        <p:nvPicPr>
          <p:cNvPr id="4" name="Content Placeholder 3"/>
          <p:cNvPicPr>
            <a:picLocks noGrp="1" noChangeAspect="1"/>
          </p:cNvPicPr>
          <p:nvPr>
            <p:ph idx="1"/>
          </p:nvPr>
        </p:nvPicPr>
        <p:blipFill>
          <a:blip r:embed="rId2"/>
          <a:stretch>
            <a:fillRect/>
          </a:stretch>
        </p:blipFill>
        <p:spPr>
          <a:xfrm>
            <a:off x="7124322" y="3408630"/>
            <a:ext cx="4690466" cy="2204519"/>
          </a:xfrm>
          <a:prstGeom prst="rect">
            <a:avLst/>
          </a:prstGeom>
        </p:spPr>
      </p:pic>
      <p:pic>
        <p:nvPicPr>
          <p:cNvPr id="5" name="Picture 4"/>
          <p:cNvPicPr>
            <a:picLocks noChangeAspect="1"/>
          </p:cNvPicPr>
          <p:nvPr/>
        </p:nvPicPr>
        <p:blipFill>
          <a:blip r:embed="rId3"/>
          <a:stretch>
            <a:fillRect/>
          </a:stretch>
        </p:blipFill>
        <p:spPr>
          <a:xfrm>
            <a:off x="1271875" y="3408630"/>
            <a:ext cx="4513290" cy="2286814"/>
          </a:xfrm>
          <a:prstGeom prst="rect">
            <a:avLst/>
          </a:prstGeom>
        </p:spPr>
      </p:pic>
      <p:sp>
        <p:nvSpPr>
          <p:cNvPr id="6" name="Right Arrow 5"/>
          <p:cNvSpPr/>
          <p:nvPr/>
        </p:nvSpPr>
        <p:spPr>
          <a:xfrm>
            <a:off x="5911913" y="3983525"/>
            <a:ext cx="1212409" cy="5685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252569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Rating Process</a:t>
            </a:r>
            <a:br>
              <a:rPr lang="en-US" b="1" dirty="0" smtClean="0"/>
            </a:br>
            <a:r>
              <a:rPr lang="en-US" sz="2800" b="1" dirty="0" smtClean="0"/>
              <a:t> Updation of rating</a:t>
            </a:r>
            <a:endParaRPr lang="en-IN" b="1" dirty="0"/>
          </a:p>
        </p:txBody>
      </p:sp>
      <p:pic>
        <p:nvPicPr>
          <p:cNvPr id="5" name="Content Placeholder 4"/>
          <p:cNvPicPr>
            <a:picLocks noGrp="1" noChangeAspect="1"/>
          </p:cNvPicPr>
          <p:nvPr>
            <p:ph idx="1"/>
          </p:nvPr>
        </p:nvPicPr>
        <p:blipFill>
          <a:blip r:embed="rId2"/>
          <a:stretch>
            <a:fillRect/>
          </a:stretch>
        </p:blipFill>
        <p:spPr>
          <a:xfrm>
            <a:off x="6617258" y="1843623"/>
            <a:ext cx="4947751" cy="2323124"/>
          </a:xfrm>
          <a:prstGeom prst="rect">
            <a:avLst/>
          </a:prstGeom>
        </p:spPr>
      </p:pic>
      <p:pic>
        <p:nvPicPr>
          <p:cNvPr id="6" name="Picture 5"/>
          <p:cNvPicPr>
            <a:picLocks noChangeAspect="1"/>
          </p:cNvPicPr>
          <p:nvPr/>
        </p:nvPicPr>
        <p:blipFill>
          <a:blip r:embed="rId3"/>
          <a:stretch>
            <a:fillRect/>
          </a:stretch>
        </p:blipFill>
        <p:spPr>
          <a:xfrm>
            <a:off x="779391" y="1849517"/>
            <a:ext cx="4564402" cy="2311336"/>
          </a:xfrm>
          <a:prstGeom prst="rect">
            <a:avLst/>
          </a:prstGeom>
        </p:spPr>
      </p:pic>
      <p:sp>
        <p:nvSpPr>
          <p:cNvPr id="7" name="Right Arrow 6"/>
          <p:cNvSpPr/>
          <p:nvPr/>
        </p:nvSpPr>
        <p:spPr>
          <a:xfrm>
            <a:off x="5423737" y="2724526"/>
            <a:ext cx="1113576" cy="561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8151851" y="3540730"/>
            <a:ext cx="3413158" cy="646331"/>
          </a:xfrm>
          <a:prstGeom prst="rect">
            <a:avLst/>
          </a:prstGeom>
          <a:noFill/>
        </p:spPr>
        <p:txBody>
          <a:bodyPr wrap="square" rtlCol="0">
            <a:spAutoFit/>
          </a:bodyPr>
          <a:lstStyle/>
          <a:p>
            <a:r>
              <a:rPr lang="en-US" dirty="0" smtClean="0"/>
              <a:t>After giving rating again, previous rating value will be updated.</a:t>
            </a:r>
            <a:endParaRPr lang="en-IN" dirty="0"/>
          </a:p>
        </p:txBody>
      </p:sp>
      <p:pic>
        <p:nvPicPr>
          <p:cNvPr id="10" name="Picture 9"/>
          <p:cNvPicPr>
            <a:picLocks noChangeAspect="1"/>
          </p:cNvPicPr>
          <p:nvPr/>
        </p:nvPicPr>
        <p:blipFill>
          <a:blip r:embed="rId4"/>
          <a:stretch>
            <a:fillRect/>
          </a:stretch>
        </p:blipFill>
        <p:spPr>
          <a:xfrm>
            <a:off x="3228172" y="4427020"/>
            <a:ext cx="4923679" cy="2258141"/>
          </a:xfrm>
          <a:prstGeom prst="rect">
            <a:avLst/>
          </a:prstGeom>
        </p:spPr>
      </p:pic>
      <p:sp>
        <p:nvSpPr>
          <p:cNvPr id="11" name="TextBox 10"/>
          <p:cNvSpPr txBox="1"/>
          <p:nvPr/>
        </p:nvSpPr>
        <p:spPr>
          <a:xfrm>
            <a:off x="8758434" y="5484832"/>
            <a:ext cx="2386382" cy="923330"/>
          </a:xfrm>
          <a:prstGeom prst="rect">
            <a:avLst/>
          </a:prstGeom>
          <a:noFill/>
        </p:spPr>
        <p:txBody>
          <a:bodyPr wrap="square" rtlCol="0">
            <a:spAutoFit/>
          </a:bodyPr>
          <a:lstStyle/>
          <a:p>
            <a:r>
              <a:rPr lang="en-US" dirty="0" smtClean="0"/>
              <a:t>Rating will be updated and  displayed on home page</a:t>
            </a:r>
            <a:endParaRPr lang="en-IN" dirty="0"/>
          </a:p>
        </p:txBody>
      </p:sp>
    </p:spTree>
    <p:extLst>
      <p:ext uri="{BB962C8B-B14F-4D97-AF65-F5344CB8AC3E}">
        <p14:creationId xmlns:p14="http://schemas.microsoft.com/office/powerpoint/2010/main" val="29279896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3669" y="173236"/>
            <a:ext cx="9601200" cy="753701"/>
          </a:xfrm>
        </p:spPr>
        <p:txBody>
          <a:bodyPr>
            <a:normAutofit/>
          </a:bodyPr>
          <a:lstStyle/>
          <a:p>
            <a:pPr algn="ctr"/>
            <a:r>
              <a:rPr lang="en-US" sz="3200" dirty="0" smtClean="0"/>
              <a:t>Booking process</a:t>
            </a:r>
            <a:endParaRPr lang="en-IN" sz="3200" dirty="0"/>
          </a:p>
        </p:txBody>
      </p:sp>
      <p:pic>
        <p:nvPicPr>
          <p:cNvPr id="4" name="Content Placeholder 3"/>
          <p:cNvPicPr>
            <a:picLocks noGrp="1" noChangeAspect="1"/>
          </p:cNvPicPr>
          <p:nvPr>
            <p:ph idx="1"/>
          </p:nvPr>
        </p:nvPicPr>
        <p:blipFill>
          <a:blip r:embed="rId2"/>
          <a:stretch>
            <a:fillRect/>
          </a:stretch>
        </p:blipFill>
        <p:spPr>
          <a:xfrm>
            <a:off x="955969" y="1192301"/>
            <a:ext cx="4845125" cy="3072650"/>
          </a:xfrm>
          <a:prstGeom prst="rect">
            <a:avLst/>
          </a:prstGeom>
        </p:spPr>
      </p:pic>
      <p:pic>
        <p:nvPicPr>
          <p:cNvPr id="5" name="Picture 4"/>
          <p:cNvPicPr>
            <a:picLocks noChangeAspect="1"/>
          </p:cNvPicPr>
          <p:nvPr/>
        </p:nvPicPr>
        <p:blipFill>
          <a:blip r:embed="rId3"/>
          <a:stretch>
            <a:fillRect/>
          </a:stretch>
        </p:blipFill>
        <p:spPr>
          <a:xfrm>
            <a:off x="6317863" y="1192301"/>
            <a:ext cx="5730737" cy="3072650"/>
          </a:xfrm>
          <a:prstGeom prst="rect">
            <a:avLst/>
          </a:prstGeom>
        </p:spPr>
      </p:pic>
      <p:pic>
        <p:nvPicPr>
          <p:cNvPr id="6" name="Picture 5"/>
          <p:cNvPicPr>
            <a:picLocks noChangeAspect="1"/>
          </p:cNvPicPr>
          <p:nvPr/>
        </p:nvPicPr>
        <p:blipFill>
          <a:blip r:embed="rId4"/>
          <a:stretch>
            <a:fillRect/>
          </a:stretch>
        </p:blipFill>
        <p:spPr>
          <a:xfrm>
            <a:off x="4904131" y="4801084"/>
            <a:ext cx="5730737" cy="2017951"/>
          </a:xfrm>
          <a:prstGeom prst="rect">
            <a:avLst/>
          </a:prstGeom>
        </p:spPr>
      </p:pic>
      <p:sp>
        <p:nvSpPr>
          <p:cNvPr id="7" name="TextBox 6"/>
          <p:cNvSpPr txBox="1"/>
          <p:nvPr/>
        </p:nvSpPr>
        <p:spPr>
          <a:xfrm>
            <a:off x="912620" y="867339"/>
            <a:ext cx="4845125" cy="369332"/>
          </a:xfrm>
          <a:prstGeom prst="rect">
            <a:avLst/>
          </a:prstGeom>
          <a:noFill/>
        </p:spPr>
        <p:txBody>
          <a:bodyPr wrap="square" rtlCol="0">
            <a:spAutoFit/>
          </a:bodyPr>
          <a:lstStyle/>
          <a:p>
            <a:r>
              <a:rPr lang="en-US" dirty="0" smtClean="0"/>
              <a:t>Step-1: Click in book now</a:t>
            </a:r>
            <a:endParaRPr lang="en-IN" dirty="0"/>
          </a:p>
        </p:txBody>
      </p:sp>
      <p:sp>
        <p:nvSpPr>
          <p:cNvPr id="8" name="TextBox 7"/>
          <p:cNvSpPr txBox="1"/>
          <p:nvPr/>
        </p:nvSpPr>
        <p:spPr>
          <a:xfrm>
            <a:off x="6227328" y="864529"/>
            <a:ext cx="4600616" cy="369332"/>
          </a:xfrm>
          <a:prstGeom prst="rect">
            <a:avLst/>
          </a:prstGeom>
          <a:noFill/>
        </p:spPr>
        <p:txBody>
          <a:bodyPr wrap="square" rtlCol="0">
            <a:spAutoFit/>
          </a:bodyPr>
          <a:lstStyle/>
          <a:p>
            <a:r>
              <a:rPr lang="en-US" dirty="0" smtClean="0"/>
              <a:t>Step-2: Fill the required fields</a:t>
            </a:r>
            <a:endParaRPr lang="en-IN" dirty="0"/>
          </a:p>
        </p:txBody>
      </p:sp>
      <p:sp>
        <p:nvSpPr>
          <p:cNvPr id="9" name="TextBox 8"/>
          <p:cNvSpPr txBox="1"/>
          <p:nvPr/>
        </p:nvSpPr>
        <p:spPr>
          <a:xfrm>
            <a:off x="4904132" y="6449703"/>
            <a:ext cx="5730737" cy="369332"/>
          </a:xfrm>
          <a:prstGeom prst="rect">
            <a:avLst/>
          </a:prstGeom>
          <a:noFill/>
        </p:spPr>
        <p:txBody>
          <a:bodyPr wrap="square" rtlCol="0">
            <a:spAutoFit/>
          </a:bodyPr>
          <a:lstStyle/>
          <a:p>
            <a:r>
              <a:rPr lang="en-US" dirty="0" smtClean="0"/>
              <a:t>Step-3: Check the status of booking in “MyBookings”</a:t>
            </a:r>
            <a:endParaRPr lang="en-IN" dirty="0"/>
          </a:p>
        </p:txBody>
      </p:sp>
      <p:sp>
        <p:nvSpPr>
          <p:cNvPr id="10" name="Right Arrow 9"/>
          <p:cNvSpPr/>
          <p:nvPr/>
        </p:nvSpPr>
        <p:spPr>
          <a:xfrm>
            <a:off x="5834269" y="2987644"/>
            <a:ext cx="483594" cy="6156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Down Arrow 10"/>
          <p:cNvSpPr/>
          <p:nvPr/>
        </p:nvSpPr>
        <p:spPr>
          <a:xfrm>
            <a:off x="7769499" y="4264950"/>
            <a:ext cx="541582" cy="5361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78928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Module wise description</a:t>
            </a:r>
            <a:endParaRPr lang="en-IN" dirty="0"/>
          </a:p>
        </p:txBody>
      </p:sp>
      <p:sp>
        <p:nvSpPr>
          <p:cNvPr id="3" name="Content Placeholder 2"/>
          <p:cNvSpPr>
            <a:spLocks noGrp="1"/>
          </p:cNvSpPr>
          <p:nvPr>
            <p:ph idx="1"/>
          </p:nvPr>
        </p:nvSpPr>
        <p:spPr>
          <a:xfrm>
            <a:off x="1122631" y="1928388"/>
            <a:ext cx="10855104" cy="3939012"/>
          </a:xfrm>
        </p:spPr>
        <p:txBody>
          <a:bodyPr/>
          <a:lstStyle/>
          <a:p>
            <a:r>
              <a:rPr lang="en-US" dirty="0" smtClean="0"/>
              <a:t>Manage Bookings:</a:t>
            </a:r>
          </a:p>
          <a:p>
            <a:pPr lvl="1"/>
            <a:r>
              <a:rPr lang="en-US" dirty="0" smtClean="0"/>
              <a:t>This module will be only available for admin who will login through admin portal</a:t>
            </a:r>
          </a:p>
          <a:p>
            <a:pPr lvl="1"/>
            <a:r>
              <a:rPr lang="en-US" dirty="0" smtClean="0"/>
              <a:t>Admin will have all the details of booking like username</a:t>
            </a:r>
            <a:r>
              <a:rPr lang="en-US" dirty="0"/>
              <a:t>, restaurant </a:t>
            </a:r>
            <a:r>
              <a:rPr lang="en-US" dirty="0" smtClean="0"/>
              <a:t>name, date, number of persons, time, access to accept or cancel users booking .</a:t>
            </a:r>
          </a:p>
          <a:p>
            <a:endParaRPr lang="en-IN" dirty="0"/>
          </a:p>
        </p:txBody>
      </p:sp>
      <p:pic>
        <p:nvPicPr>
          <p:cNvPr id="4" name="Picture 3"/>
          <p:cNvPicPr>
            <a:picLocks noChangeAspect="1"/>
          </p:cNvPicPr>
          <p:nvPr/>
        </p:nvPicPr>
        <p:blipFill>
          <a:blip r:embed="rId2"/>
          <a:stretch>
            <a:fillRect/>
          </a:stretch>
        </p:blipFill>
        <p:spPr>
          <a:xfrm>
            <a:off x="2379604" y="3347107"/>
            <a:ext cx="7778383" cy="3392699"/>
          </a:xfrm>
          <a:prstGeom prst="rect">
            <a:avLst/>
          </a:prstGeom>
        </p:spPr>
      </p:pic>
    </p:spTree>
    <p:extLst>
      <p:ext uri="{BB962C8B-B14F-4D97-AF65-F5344CB8AC3E}">
        <p14:creationId xmlns:p14="http://schemas.microsoft.com/office/powerpoint/2010/main" val="32798531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876261"/>
            <a:ext cx="9601200" cy="1303699"/>
          </a:xfrm>
        </p:spPr>
        <p:txBody>
          <a:bodyPr>
            <a:normAutofit/>
          </a:bodyPr>
          <a:lstStyle/>
          <a:p>
            <a:r>
              <a:rPr lang="en-US" sz="2400" dirty="0" smtClean="0"/>
              <a:t>Example: On </a:t>
            </a:r>
            <a:r>
              <a:rPr lang="en-IN" sz="2400" dirty="0"/>
              <a:t>clicking accept on Reshmasri’s  </a:t>
            </a:r>
            <a:r>
              <a:rPr lang="en-IN" sz="2400" dirty="0" smtClean="0"/>
              <a:t>booking, </a:t>
            </a:r>
            <a:endParaRPr lang="en-IN" sz="2400" dirty="0"/>
          </a:p>
          <a:p>
            <a:endParaRPr lang="en-IN" sz="2400" dirty="0"/>
          </a:p>
        </p:txBody>
      </p:sp>
      <p:pic>
        <p:nvPicPr>
          <p:cNvPr id="4" name="Picture 3"/>
          <p:cNvPicPr>
            <a:picLocks noChangeAspect="1"/>
          </p:cNvPicPr>
          <p:nvPr/>
        </p:nvPicPr>
        <p:blipFill>
          <a:blip r:embed="rId2"/>
          <a:stretch>
            <a:fillRect/>
          </a:stretch>
        </p:blipFill>
        <p:spPr>
          <a:xfrm>
            <a:off x="0" y="2996697"/>
            <a:ext cx="5730737" cy="3071050"/>
          </a:xfrm>
          <a:prstGeom prst="rect">
            <a:avLst/>
          </a:prstGeom>
        </p:spPr>
      </p:pic>
      <p:pic>
        <p:nvPicPr>
          <p:cNvPr id="5" name="Picture 4"/>
          <p:cNvPicPr>
            <a:picLocks noChangeAspect="1"/>
          </p:cNvPicPr>
          <p:nvPr/>
        </p:nvPicPr>
        <p:blipFill>
          <a:blip r:embed="rId3"/>
          <a:stretch>
            <a:fillRect/>
          </a:stretch>
        </p:blipFill>
        <p:spPr>
          <a:xfrm>
            <a:off x="6461263" y="2996697"/>
            <a:ext cx="5730737" cy="3071050"/>
          </a:xfrm>
          <a:prstGeom prst="rect">
            <a:avLst/>
          </a:prstGeom>
        </p:spPr>
      </p:pic>
      <p:sp>
        <p:nvSpPr>
          <p:cNvPr id="6" name="Right Arrow 5"/>
          <p:cNvSpPr/>
          <p:nvPr/>
        </p:nvSpPr>
        <p:spPr>
          <a:xfrm>
            <a:off x="5730737" y="4462907"/>
            <a:ext cx="730526" cy="66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725363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Module wise description</a:t>
            </a:r>
            <a:endParaRPr lang="en-IN" dirty="0"/>
          </a:p>
        </p:txBody>
      </p:sp>
      <p:sp>
        <p:nvSpPr>
          <p:cNvPr id="3" name="Content Placeholder 2"/>
          <p:cNvSpPr>
            <a:spLocks noGrp="1"/>
          </p:cNvSpPr>
          <p:nvPr>
            <p:ph idx="1"/>
          </p:nvPr>
        </p:nvSpPr>
        <p:spPr>
          <a:xfrm>
            <a:off x="1231271" y="1729212"/>
            <a:ext cx="10818891" cy="4138188"/>
          </a:xfrm>
        </p:spPr>
        <p:txBody>
          <a:bodyPr/>
          <a:lstStyle/>
          <a:p>
            <a:r>
              <a:rPr lang="en-US" dirty="0" smtClean="0"/>
              <a:t>Manage Users:</a:t>
            </a:r>
          </a:p>
          <a:p>
            <a:pPr lvl="1"/>
            <a:r>
              <a:rPr lang="en-US" dirty="0" smtClean="0"/>
              <a:t>Only admin will be able to access this module.</a:t>
            </a:r>
          </a:p>
          <a:p>
            <a:pPr lvl="1"/>
            <a:r>
              <a:rPr lang="en-US" dirty="0" smtClean="0"/>
              <a:t>Here admin has access to remove a user/customer.</a:t>
            </a:r>
          </a:p>
          <a:p>
            <a:pPr lvl="1"/>
            <a:endParaRPr lang="en-IN" dirty="0"/>
          </a:p>
        </p:txBody>
      </p:sp>
      <p:pic>
        <p:nvPicPr>
          <p:cNvPr id="4" name="Picture 3"/>
          <p:cNvPicPr>
            <a:picLocks noChangeAspect="1"/>
          </p:cNvPicPr>
          <p:nvPr/>
        </p:nvPicPr>
        <p:blipFill rotWithShape="1">
          <a:blip r:embed="rId2"/>
          <a:srcRect/>
          <a:stretch/>
        </p:blipFill>
        <p:spPr>
          <a:xfrm>
            <a:off x="712524" y="3608803"/>
            <a:ext cx="5270573" cy="2556607"/>
          </a:xfrm>
          <a:prstGeom prst="rect">
            <a:avLst/>
          </a:prstGeom>
        </p:spPr>
      </p:pic>
      <p:pic>
        <p:nvPicPr>
          <p:cNvPr id="5" name="Picture 4"/>
          <p:cNvPicPr>
            <a:picLocks noChangeAspect="1"/>
          </p:cNvPicPr>
          <p:nvPr/>
        </p:nvPicPr>
        <p:blipFill>
          <a:blip r:embed="rId3"/>
          <a:stretch>
            <a:fillRect/>
          </a:stretch>
        </p:blipFill>
        <p:spPr>
          <a:xfrm>
            <a:off x="6492791" y="3614327"/>
            <a:ext cx="5730737" cy="2551083"/>
          </a:xfrm>
          <a:prstGeom prst="rect">
            <a:avLst/>
          </a:prstGeom>
        </p:spPr>
      </p:pic>
      <p:sp>
        <p:nvSpPr>
          <p:cNvPr id="6" name="Right Arrow 5"/>
          <p:cNvSpPr/>
          <p:nvPr/>
        </p:nvSpPr>
        <p:spPr>
          <a:xfrm>
            <a:off x="5983097" y="4823732"/>
            <a:ext cx="499290" cy="7169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643829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Module wise description</a:t>
            </a:r>
            <a:endParaRPr lang="en-IN" dirty="0"/>
          </a:p>
        </p:txBody>
      </p:sp>
      <p:sp>
        <p:nvSpPr>
          <p:cNvPr id="3" name="Content Placeholder 2"/>
          <p:cNvSpPr>
            <a:spLocks noGrp="1"/>
          </p:cNvSpPr>
          <p:nvPr>
            <p:ph idx="1"/>
          </p:nvPr>
        </p:nvSpPr>
        <p:spPr>
          <a:xfrm>
            <a:off x="1371600" y="1792586"/>
            <a:ext cx="9601200" cy="2770361"/>
          </a:xfrm>
        </p:spPr>
        <p:txBody>
          <a:bodyPr/>
          <a:lstStyle/>
          <a:p>
            <a:r>
              <a:rPr lang="en-US" dirty="0" smtClean="0"/>
              <a:t>Logout:</a:t>
            </a:r>
          </a:p>
          <a:p>
            <a:pPr lvl="1"/>
            <a:r>
              <a:rPr lang="en-US" dirty="0" smtClean="0"/>
              <a:t>Both users, admins have this option where after clicking it user will be redirected to index page.</a:t>
            </a:r>
            <a:endParaRPr lang="en-IN" dirty="0"/>
          </a:p>
        </p:txBody>
      </p:sp>
      <p:pic>
        <p:nvPicPr>
          <p:cNvPr id="4" name="Picture 3"/>
          <p:cNvPicPr>
            <a:picLocks noChangeAspect="1"/>
          </p:cNvPicPr>
          <p:nvPr/>
        </p:nvPicPr>
        <p:blipFill>
          <a:blip r:embed="rId2"/>
          <a:stretch>
            <a:fillRect/>
          </a:stretch>
        </p:blipFill>
        <p:spPr>
          <a:xfrm>
            <a:off x="3067670" y="3278486"/>
            <a:ext cx="6248925" cy="3330544"/>
          </a:xfrm>
          <a:prstGeom prst="rect">
            <a:avLst/>
          </a:prstGeom>
        </p:spPr>
      </p:pic>
    </p:spTree>
    <p:extLst>
      <p:ext uri="{BB962C8B-B14F-4D97-AF65-F5344CB8AC3E}">
        <p14:creationId xmlns:p14="http://schemas.microsoft.com/office/powerpoint/2010/main" val="33580431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Usecase diagram</a:t>
            </a:r>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31685" y="1738265"/>
            <a:ext cx="4833972" cy="4753070"/>
          </a:xfrm>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1708" y="1738265"/>
            <a:ext cx="4857674" cy="475307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8483276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1081" y="185427"/>
            <a:ext cx="9601196" cy="1290287"/>
          </a:xfrm>
        </p:spPr>
        <p:txBody>
          <a:bodyPr/>
          <a:lstStyle/>
          <a:p>
            <a:pPr algn="ctr"/>
            <a:r>
              <a:rPr lang="en-US" b="1" dirty="0" smtClean="0"/>
              <a:t>Flow Diagram</a:t>
            </a:r>
            <a:endParaRPr lang="en-IN" b="1" dirty="0"/>
          </a:p>
        </p:txBody>
      </p:sp>
      <p:pic>
        <p:nvPicPr>
          <p:cNvPr id="4" name="Content Placeholder 3"/>
          <p:cNvPicPr>
            <a:picLocks noGrp="1" noChangeAspect="1"/>
          </p:cNvPicPr>
          <p:nvPr>
            <p:ph idx="1"/>
          </p:nvPr>
        </p:nvPicPr>
        <p:blipFill>
          <a:blip r:embed="rId2"/>
          <a:stretch>
            <a:fillRect/>
          </a:stretch>
        </p:blipFill>
        <p:spPr>
          <a:xfrm>
            <a:off x="2543733" y="1376125"/>
            <a:ext cx="7131248" cy="5214797"/>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1999297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Class Diagram</a:t>
            </a:r>
            <a:endParaRPr lang="en-IN" b="1" dirty="0"/>
          </a:p>
        </p:txBody>
      </p:sp>
      <p:pic>
        <p:nvPicPr>
          <p:cNvPr id="4" name="Content Placeholder 3"/>
          <p:cNvPicPr>
            <a:picLocks noGrp="1" noChangeAspect="1"/>
          </p:cNvPicPr>
          <p:nvPr>
            <p:ph idx="1"/>
          </p:nvPr>
        </p:nvPicPr>
        <p:blipFill>
          <a:blip r:embed="rId2"/>
          <a:stretch>
            <a:fillRect/>
          </a:stretch>
        </p:blipFill>
        <p:spPr>
          <a:xfrm>
            <a:off x="2789809" y="1544015"/>
            <a:ext cx="7250485" cy="5332092"/>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31712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9707" y="0"/>
            <a:ext cx="9601200" cy="862343"/>
          </a:xfrm>
        </p:spPr>
        <p:txBody>
          <a:bodyPr/>
          <a:lstStyle/>
          <a:p>
            <a:pPr algn="ctr"/>
            <a:r>
              <a:rPr lang="en-IN" b="1" dirty="0"/>
              <a:t>Testing approach</a:t>
            </a:r>
          </a:p>
        </p:txBody>
      </p:sp>
      <p:sp>
        <p:nvSpPr>
          <p:cNvPr id="3" name="Content Placeholder 2"/>
          <p:cNvSpPr>
            <a:spLocks noGrp="1"/>
          </p:cNvSpPr>
          <p:nvPr>
            <p:ph idx="1"/>
          </p:nvPr>
        </p:nvSpPr>
        <p:spPr>
          <a:xfrm>
            <a:off x="724277" y="1394232"/>
            <a:ext cx="11467723" cy="5418500"/>
          </a:xfrm>
        </p:spPr>
        <p:txBody>
          <a:bodyPr>
            <a:normAutofit/>
          </a:bodyPr>
          <a:lstStyle/>
          <a:p>
            <a:endParaRPr lang="en-US" dirty="0" smtClean="0"/>
          </a:p>
          <a:p>
            <a:endParaRPr lang="en-US" dirty="0"/>
          </a:p>
          <a:p>
            <a:endParaRPr lang="en-US" dirty="0" smtClean="0"/>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588720597"/>
              </p:ext>
            </p:extLst>
          </p:nvPr>
        </p:nvGraphicFramePr>
        <p:xfrm>
          <a:off x="896293" y="708433"/>
          <a:ext cx="10972800" cy="6039180"/>
        </p:xfrm>
        <a:graphic>
          <a:graphicData uri="http://schemas.openxmlformats.org/drawingml/2006/table">
            <a:tbl>
              <a:tblPr firstRow="1" bandRow="1">
                <a:tableStyleId>{5C22544A-7EE6-4342-B048-85BDC9FD1C3A}</a:tableStyleId>
              </a:tblPr>
              <a:tblGrid>
                <a:gridCol w="1828800"/>
                <a:gridCol w="1828800"/>
                <a:gridCol w="1828800"/>
                <a:gridCol w="1828800"/>
                <a:gridCol w="1828800"/>
                <a:gridCol w="1828800"/>
              </a:tblGrid>
              <a:tr h="889032">
                <a:tc>
                  <a:txBody>
                    <a:bodyPr/>
                    <a:lstStyle/>
                    <a:p>
                      <a:pPr algn="ctr"/>
                      <a:r>
                        <a:rPr lang="en-US" dirty="0" smtClean="0"/>
                        <a:t>Module number</a:t>
                      </a:r>
                      <a:endParaRPr lang="en-IN" dirty="0"/>
                    </a:p>
                  </a:txBody>
                  <a:tcPr/>
                </a:tc>
                <a:tc>
                  <a:txBody>
                    <a:bodyPr/>
                    <a:lstStyle/>
                    <a:p>
                      <a:pPr algn="ctr"/>
                      <a:r>
                        <a:rPr lang="en-US" dirty="0" smtClean="0"/>
                        <a:t>Name</a:t>
                      </a:r>
                      <a:endParaRPr lang="en-IN" dirty="0"/>
                    </a:p>
                  </a:txBody>
                  <a:tcPr/>
                </a:tc>
                <a:tc>
                  <a:txBody>
                    <a:bodyPr/>
                    <a:lstStyle/>
                    <a:p>
                      <a:pPr algn="ctr"/>
                      <a:r>
                        <a:rPr lang="en-US" dirty="0" smtClean="0"/>
                        <a:t>Input</a:t>
                      </a:r>
                      <a:endParaRPr lang="en-IN" dirty="0"/>
                    </a:p>
                  </a:txBody>
                  <a:tcPr/>
                </a:tc>
                <a:tc>
                  <a:txBody>
                    <a:bodyPr/>
                    <a:lstStyle/>
                    <a:p>
                      <a:pPr algn="ctr"/>
                      <a:r>
                        <a:rPr lang="en-US" dirty="0" smtClean="0"/>
                        <a:t>Expected output</a:t>
                      </a:r>
                      <a:endParaRPr lang="en-IN" dirty="0"/>
                    </a:p>
                  </a:txBody>
                  <a:tcPr/>
                </a:tc>
                <a:tc>
                  <a:txBody>
                    <a:bodyPr/>
                    <a:lstStyle/>
                    <a:p>
                      <a:pPr algn="ctr"/>
                      <a:r>
                        <a:rPr lang="en-US" dirty="0" smtClean="0"/>
                        <a:t>Actual</a:t>
                      </a:r>
                      <a:r>
                        <a:rPr lang="en-US" baseline="0" dirty="0" smtClean="0"/>
                        <a:t> Output</a:t>
                      </a:r>
                      <a:endParaRPr lang="en-IN" dirty="0"/>
                    </a:p>
                  </a:txBody>
                  <a:tcPr/>
                </a:tc>
                <a:tc>
                  <a:txBody>
                    <a:bodyPr/>
                    <a:lstStyle/>
                    <a:p>
                      <a:pPr algn="ctr"/>
                      <a:r>
                        <a:rPr lang="en-US" dirty="0" smtClean="0"/>
                        <a:t>Status</a:t>
                      </a:r>
                      <a:endParaRPr lang="en-IN" dirty="0"/>
                    </a:p>
                  </a:txBody>
                  <a:tcPr/>
                </a:tc>
              </a:tr>
              <a:tr h="889032">
                <a:tc>
                  <a:txBody>
                    <a:bodyPr/>
                    <a:lstStyle/>
                    <a:p>
                      <a:pPr algn="ctr"/>
                      <a:r>
                        <a:rPr lang="en-US" dirty="0" smtClean="0"/>
                        <a:t>M-01</a:t>
                      </a:r>
                      <a:endParaRPr lang="en-IN" dirty="0"/>
                    </a:p>
                  </a:txBody>
                  <a:tcPr/>
                </a:tc>
                <a:tc>
                  <a:txBody>
                    <a:bodyPr/>
                    <a:lstStyle/>
                    <a:p>
                      <a:pPr algn="ctr"/>
                      <a:r>
                        <a:rPr lang="en-US" dirty="0" smtClean="0"/>
                        <a:t>Registration</a:t>
                      </a:r>
                      <a:endParaRPr lang="en-IN" dirty="0"/>
                    </a:p>
                  </a:txBody>
                  <a:tcPr/>
                </a:tc>
                <a:tc>
                  <a:txBody>
                    <a:bodyPr/>
                    <a:lstStyle/>
                    <a:p>
                      <a:pPr algn="ctr"/>
                      <a:r>
                        <a:rPr lang="en-US" sz="1200" dirty="0" smtClean="0"/>
                        <a:t>We give username as “nagaveena”, email as </a:t>
                      </a:r>
                      <a:r>
                        <a:rPr lang="en-US" sz="1200" dirty="0" smtClean="0">
                          <a:hlinkClick r:id="rId2"/>
                        </a:rPr>
                        <a:t>“veena@gmail.com</a:t>
                      </a:r>
                      <a:r>
                        <a:rPr lang="en-US" sz="1200" dirty="0" smtClean="0"/>
                        <a:t>”, password as “123456”</a:t>
                      </a:r>
                      <a:endParaRPr lang="en-IN" sz="1200" dirty="0"/>
                    </a:p>
                  </a:txBody>
                  <a:tcPr/>
                </a:tc>
                <a:tc>
                  <a:txBody>
                    <a:bodyPr/>
                    <a:lstStyle/>
                    <a:p>
                      <a:pPr algn="ctr"/>
                      <a:r>
                        <a:rPr lang="en-US" dirty="0" smtClean="0"/>
                        <a:t>Redirect</a:t>
                      </a:r>
                      <a:r>
                        <a:rPr lang="en-US" baseline="0" dirty="0" smtClean="0"/>
                        <a:t> to login page</a:t>
                      </a:r>
                      <a:endParaRPr lang="en-IN" dirty="0"/>
                    </a:p>
                  </a:txBody>
                  <a:tcPr/>
                </a:tc>
                <a:tc>
                  <a:txBody>
                    <a:bodyPr/>
                    <a:lstStyle/>
                    <a:p>
                      <a:pPr algn="ctr"/>
                      <a:r>
                        <a:rPr lang="en-US" dirty="0" smtClean="0"/>
                        <a:t>Takes us to login page</a:t>
                      </a:r>
                      <a:endParaRPr lang="en-IN" dirty="0"/>
                    </a:p>
                  </a:txBody>
                  <a:tcPr/>
                </a:tc>
                <a:tc>
                  <a:txBody>
                    <a:bodyPr/>
                    <a:lstStyle/>
                    <a:p>
                      <a:pPr algn="ctr"/>
                      <a:r>
                        <a:rPr lang="en-US" dirty="0" smtClean="0"/>
                        <a:t>Pass</a:t>
                      </a:r>
                      <a:endParaRPr lang="en-IN" dirty="0"/>
                    </a:p>
                  </a:txBody>
                  <a:tcPr/>
                </a:tc>
              </a:tr>
              <a:tr h="889032">
                <a:tc>
                  <a:txBody>
                    <a:bodyPr/>
                    <a:lstStyle/>
                    <a:p>
                      <a:pPr algn="ctr"/>
                      <a:r>
                        <a:rPr lang="en-US" dirty="0" smtClean="0"/>
                        <a:t>M-02</a:t>
                      </a:r>
                      <a:endParaRPr lang="en-IN" dirty="0"/>
                    </a:p>
                  </a:txBody>
                  <a:tcPr/>
                </a:tc>
                <a:tc>
                  <a:txBody>
                    <a:bodyPr/>
                    <a:lstStyle/>
                    <a:p>
                      <a:pPr algn="ctr"/>
                      <a:r>
                        <a:rPr lang="en-US" dirty="0" smtClean="0"/>
                        <a:t>Login</a:t>
                      </a:r>
                      <a:endParaRPr lang="en-IN" dirty="0"/>
                    </a:p>
                  </a:txBody>
                  <a:tcPr/>
                </a:tc>
                <a:tc>
                  <a:txBody>
                    <a:bodyPr/>
                    <a:lstStyle/>
                    <a:p>
                      <a:pPr algn="ctr"/>
                      <a:r>
                        <a:rPr lang="en-US" sz="1200" dirty="0" smtClean="0"/>
                        <a:t>We give username as “nagaveena”, password as “123456”</a:t>
                      </a:r>
                      <a:endParaRPr lang="en-IN" sz="1200" dirty="0"/>
                    </a:p>
                  </a:txBody>
                  <a:tcPr/>
                </a:tc>
                <a:tc>
                  <a:txBody>
                    <a:bodyPr/>
                    <a:lstStyle/>
                    <a:p>
                      <a:pPr algn="ctr"/>
                      <a:r>
                        <a:rPr lang="en-US" dirty="0" smtClean="0"/>
                        <a:t>Redirects</a:t>
                      </a:r>
                      <a:r>
                        <a:rPr lang="en-US" baseline="0" dirty="0" smtClean="0"/>
                        <a:t> to home page</a:t>
                      </a:r>
                      <a:endParaRPr lang="en-IN" dirty="0"/>
                    </a:p>
                  </a:txBody>
                  <a:tcPr/>
                </a:tc>
                <a:tc>
                  <a:txBody>
                    <a:bodyPr/>
                    <a:lstStyle/>
                    <a:p>
                      <a:pPr algn="ctr"/>
                      <a:r>
                        <a:rPr lang="en-US" dirty="0" smtClean="0"/>
                        <a:t>Redirects</a:t>
                      </a:r>
                      <a:r>
                        <a:rPr lang="en-US" baseline="0" dirty="0" smtClean="0"/>
                        <a:t> to home page</a:t>
                      </a:r>
                      <a:endParaRPr lang="en-IN" dirty="0"/>
                    </a:p>
                  </a:txBody>
                  <a:tcPr/>
                </a:tc>
                <a:tc>
                  <a:txBody>
                    <a:bodyPr/>
                    <a:lstStyle/>
                    <a:p>
                      <a:pPr algn="ctr"/>
                      <a:r>
                        <a:rPr lang="en-US" dirty="0" smtClean="0"/>
                        <a:t>Pass</a:t>
                      </a:r>
                      <a:endParaRPr lang="en-IN" dirty="0"/>
                    </a:p>
                  </a:txBody>
                  <a:tcPr/>
                </a:tc>
              </a:tr>
              <a:tr h="1263852">
                <a:tc>
                  <a:txBody>
                    <a:bodyPr/>
                    <a:lstStyle/>
                    <a:p>
                      <a:pPr algn="ctr"/>
                      <a:r>
                        <a:rPr lang="en-US" dirty="0" smtClean="0"/>
                        <a:t>M-0</a:t>
                      </a:r>
                      <a:r>
                        <a:rPr lang="en-IN" dirty="0" smtClean="0"/>
                        <a:t>2</a:t>
                      </a:r>
                      <a:endParaRPr lang="en-IN" dirty="0"/>
                    </a:p>
                  </a:txBody>
                  <a:tcPr/>
                </a:tc>
                <a:tc>
                  <a:txBody>
                    <a:bodyPr/>
                    <a:lstStyle/>
                    <a:p>
                      <a:pPr algn="ctr"/>
                      <a:r>
                        <a:rPr lang="en-US" dirty="0" smtClean="0"/>
                        <a:t>Login</a:t>
                      </a:r>
                      <a:endParaRPr lang="en-IN" dirty="0"/>
                    </a:p>
                  </a:txBody>
                  <a:tcPr/>
                </a:tc>
                <a:tc>
                  <a:txBody>
                    <a:bodyPr/>
                    <a:lstStyle/>
                    <a:p>
                      <a:pPr algn="ctr"/>
                      <a:r>
                        <a:rPr lang="en-US" sz="1400" dirty="0" smtClean="0"/>
                        <a:t>We give username as </a:t>
                      </a:r>
                      <a:r>
                        <a:rPr lang="en-US" sz="1400" dirty="0" smtClean="0"/>
                        <a:t>“Reshmasri”,</a:t>
                      </a:r>
                      <a:r>
                        <a:rPr lang="en-US" sz="1400" baseline="0" dirty="0" smtClean="0"/>
                        <a:t> </a:t>
                      </a:r>
                      <a:r>
                        <a:rPr lang="en-US" sz="1400" baseline="0" dirty="0" smtClean="0"/>
                        <a:t>password </a:t>
                      </a:r>
                      <a:r>
                        <a:rPr lang="en-US" sz="1400" baseline="0" dirty="0" smtClean="0"/>
                        <a:t>“reshma@12”</a:t>
                      </a:r>
                      <a:endParaRPr lang="en-IN"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Redirects</a:t>
                      </a:r>
                      <a:r>
                        <a:rPr lang="en-US" baseline="0" dirty="0" smtClean="0"/>
                        <a:t> to home page</a:t>
                      </a:r>
                      <a:endParaRPr lang="en-IN" dirty="0" smtClean="0"/>
                    </a:p>
                    <a:p>
                      <a:pPr algn="ctr"/>
                      <a:endParaRPr lang="en-IN" dirty="0"/>
                    </a:p>
                  </a:txBody>
                  <a:tcPr/>
                </a:tc>
                <a:tc>
                  <a:txBody>
                    <a:bodyPr/>
                    <a:lstStyle/>
                    <a:p>
                      <a:pPr algn="ctr"/>
                      <a:r>
                        <a:rPr lang="en-US" sz="1400" dirty="0" smtClean="0"/>
                        <a:t>Shows error as it is not stored in</a:t>
                      </a:r>
                      <a:r>
                        <a:rPr lang="en-US" sz="1400" baseline="0" dirty="0" smtClean="0"/>
                        <a:t> </a:t>
                      </a:r>
                      <a:r>
                        <a:rPr lang="en-US" sz="1400" baseline="0" dirty="0" smtClean="0"/>
                        <a:t>database and redirects to error page</a:t>
                      </a:r>
                      <a:endParaRPr lang="en-IN" sz="1400" dirty="0"/>
                    </a:p>
                  </a:txBody>
                  <a:tcPr/>
                </a:tc>
                <a:tc>
                  <a:txBody>
                    <a:bodyPr/>
                    <a:lstStyle/>
                    <a:p>
                      <a:pPr algn="ctr"/>
                      <a:r>
                        <a:rPr lang="en-US" dirty="0" smtClean="0"/>
                        <a:t>Fail</a:t>
                      </a:r>
                      <a:endParaRPr lang="en-IN" dirty="0"/>
                    </a:p>
                  </a:txBody>
                  <a:tcPr/>
                </a:tc>
              </a:tr>
              <a:tr h="889032">
                <a:tc>
                  <a:txBody>
                    <a:bodyPr/>
                    <a:lstStyle/>
                    <a:p>
                      <a:pPr algn="ctr"/>
                      <a:r>
                        <a:rPr lang="en-US" dirty="0" smtClean="0"/>
                        <a:t>M-04</a:t>
                      </a:r>
                      <a:endParaRPr lang="en-IN" dirty="0"/>
                    </a:p>
                  </a:txBody>
                  <a:tcPr/>
                </a:tc>
                <a:tc>
                  <a:txBody>
                    <a:bodyPr/>
                    <a:lstStyle/>
                    <a:p>
                      <a:pPr algn="ctr"/>
                      <a:r>
                        <a:rPr lang="en-US" dirty="0" smtClean="0"/>
                        <a:t>Booking</a:t>
                      </a:r>
                      <a:endParaRPr lang="en-IN" dirty="0"/>
                    </a:p>
                  </a:txBody>
                  <a:tcPr/>
                </a:tc>
                <a:tc>
                  <a:txBody>
                    <a:bodyPr/>
                    <a:lstStyle/>
                    <a:p>
                      <a:pPr algn="ctr"/>
                      <a:r>
                        <a:rPr lang="en-US" dirty="0" smtClean="0"/>
                        <a:t>Click</a:t>
                      </a:r>
                      <a:r>
                        <a:rPr lang="en-US" baseline="0" dirty="0" smtClean="0"/>
                        <a:t> on book now</a:t>
                      </a:r>
                      <a:endParaRPr lang="en-IN" dirty="0"/>
                    </a:p>
                  </a:txBody>
                  <a:tcPr/>
                </a:tc>
                <a:tc>
                  <a:txBody>
                    <a:bodyPr/>
                    <a:lstStyle/>
                    <a:p>
                      <a:pPr algn="ctr"/>
                      <a:r>
                        <a:rPr lang="en-US" sz="1400" dirty="0" smtClean="0"/>
                        <a:t>Classic</a:t>
                      </a:r>
                      <a:r>
                        <a:rPr lang="en-US" sz="1400" baseline="0" dirty="0" smtClean="0"/>
                        <a:t> booking page opens and user has to fill details</a:t>
                      </a:r>
                      <a:endParaRPr lang="en-IN" sz="1400" dirty="0"/>
                    </a:p>
                  </a:txBody>
                  <a:tcPr/>
                </a:tc>
                <a:tc>
                  <a:txBody>
                    <a:bodyPr/>
                    <a:lstStyle/>
                    <a:p>
                      <a:pPr algn="ctr"/>
                      <a:r>
                        <a:rPr lang="en-US" dirty="0" smtClean="0"/>
                        <a:t>Classic</a:t>
                      </a:r>
                      <a:r>
                        <a:rPr lang="en-US" baseline="0" dirty="0" smtClean="0"/>
                        <a:t> booking page opens</a:t>
                      </a:r>
                      <a:endParaRPr lang="en-IN" dirty="0"/>
                    </a:p>
                  </a:txBody>
                  <a:tcPr/>
                </a:tc>
                <a:tc>
                  <a:txBody>
                    <a:bodyPr/>
                    <a:lstStyle/>
                    <a:p>
                      <a:pPr algn="ctr"/>
                      <a:r>
                        <a:rPr lang="en-US" dirty="0" smtClean="0"/>
                        <a:t>Pass</a:t>
                      </a:r>
                      <a:endParaRPr lang="en-IN" dirty="0"/>
                    </a:p>
                  </a:txBody>
                  <a:tcPr/>
                </a:tc>
              </a:tr>
              <a:tr h="1175677">
                <a:tc>
                  <a:txBody>
                    <a:bodyPr/>
                    <a:lstStyle/>
                    <a:p>
                      <a:pPr algn="ctr"/>
                      <a:r>
                        <a:rPr lang="en-US" dirty="0" smtClean="0"/>
                        <a:t>M-05</a:t>
                      </a:r>
                      <a:endParaRPr lang="en-IN" dirty="0"/>
                    </a:p>
                  </a:txBody>
                  <a:tcPr/>
                </a:tc>
                <a:tc>
                  <a:txBody>
                    <a:bodyPr/>
                    <a:lstStyle/>
                    <a:p>
                      <a:pPr algn="ctr"/>
                      <a:r>
                        <a:rPr lang="en-US" dirty="0" smtClean="0"/>
                        <a:t>Booking slot</a:t>
                      </a:r>
                      <a:endParaRPr lang="en-IN" dirty="0"/>
                    </a:p>
                  </a:txBody>
                  <a:tcPr/>
                </a:tc>
                <a:tc>
                  <a:txBody>
                    <a:bodyPr/>
                    <a:lstStyle/>
                    <a:p>
                      <a:pPr algn="ctr"/>
                      <a:r>
                        <a:rPr lang="en-US" sz="1400" dirty="0" smtClean="0"/>
                        <a:t>We</a:t>
                      </a:r>
                      <a:r>
                        <a:rPr lang="en-US" sz="1400" baseline="0" dirty="0" smtClean="0"/>
                        <a:t> give date as “19-04-2021”, </a:t>
                      </a:r>
                      <a:r>
                        <a:rPr lang="en-US" sz="1400" baseline="0" dirty="0" err="1" smtClean="0"/>
                        <a:t>no’of</a:t>
                      </a:r>
                      <a:r>
                        <a:rPr lang="en-US" sz="1400" baseline="0" dirty="0" smtClean="0"/>
                        <a:t> persons “5” and time as “01:16AM”</a:t>
                      </a:r>
                      <a:endParaRPr lang="en-IN" sz="1400" dirty="0"/>
                    </a:p>
                  </a:txBody>
                  <a:tcPr/>
                </a:tc>
                <a:tc>
                  <a:txBody>
                    <a:bodyPr/>
                    <a:lstStyle/>
                    <a:p>
                      <a:pPr algn="ctr"/>
                      <a:r>
                        <a:rPr lang="en-US" sz="1400" dirty="0" smtClean="0"/>
                        <a:t>We come to home page</a:t>
                      </a:r>
                      <a:endParaRPr lang="en-IN"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We redirect</a:t>
                      </a:r>
                      <a:r>
                        <a:rPr lang="en-US" sz="1400" baseline="0" dirty="0" smtClean="0"/>
                        <a:t> to home page </a:t>
                      </a:r>
                      <a:r>
                        <a:rPr lang="en-US" sz="1400" dirty="0" smtClean="0"/>
                        <a:t>and can check our bookings in MyBookings</a:t>
                      </a:r>
                      <a:endParaRPr lang="en-IN" sz="1400" dirty="0" smtClean="0"/>
                    </a:p>
                    <a:p>
                      <a:pPr algn="ctr"/>
                      <a:endParaRPr lang="en-IN" dirty="0"/>
                    </a:p>
                  </a:txBody>
                  <a:tcPr/>
                </a:tc>
                <a:tc>
                  <a:txBody>
                    <a:bodyPr/>
                    <a:lstStyle/>
                    <a:p>
                      <a:pPr algn="ctr"/>
                      <a:r>
                        <a:rPr lang="en-US" dirty="0" smtClean="0"/>
                        <a:t>Pass</a:t>
                      </a:r>
                      <a:endParaRPr lang="en-IN" dirty="0"/>
                    </a:p>
                  </a:txBody>
                  <a:tcPr/>
                </a:tc>
              </a:tr>
            </a:tbl>
          </a:graphicData>
        </a:graphic>
      </p:graphicFrame>
    </p:spTree>
    <p:extLst>
      <p:ext uri="{BB962C8B-B14F-4D97-AF65-F5344CB8AC3E}">
        <p14:creationId xmlns:p14="http://schemas.microsoft.com/office/powerpoint/2010/main" val="31380672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Deployment</a:t>
            </a:r>
          </a:p>
        </p:txBody>
      </p:sp>
      <p:sp>
        <p:nvSpPr>
          <p:cNvPr id="3" name="Content Placeholder 2"/>
          <p:cNvSpPr>
            <a:spLocks noGrp="1"/>
          </p:cNvSpPr>
          <p:nvPr>
            <p:ph idx="1"/>
          </p:nvPr>
        </p:nvSpPr>
        <p:spPr/>
        <p:txBody>
          <a:bodyPr/>
          <a:lstStyle/>
          <a:p>
            <a:r>
              <a:rPr lang="en-US" dirty="0" err="1" smtClean="0"/>
              <a:t>GitHub</a:t>
            </a:r>
            <a:r>
              <a:rPr lang="en-US" dirty="0" smtClean="0"/>
              <a:t> Account: </a:t>
            </a:r>
            <a:r>
              <a:rPr lang="en-US" dirty="0" smtClean="0">
                <a:hlinkClick r:id="rId2"/>
              </a:rPr>
              <a:t>https://github.com/nagaveena02/Urban_spoon</a:t>
            </a:r>
            <a:endParaRPr lang="en-US" dirty="0" smtClean="0"/>
          </a:p>
          <a:p>
            <a:r>
              <a:rPr lang="en-US" dirty="0" smtClean="0"/>
              <a:t>Database service: MySQL database</a:t>
            </a:r>
          </a:p>
          <a:p>
            <a:r>
              <a:rPr lang="en-US" dirty="0" smtClean="0"/>
              <a:t>IDE : eclipse</a:t>
            </a:r>
          </a:p>
          <a:p>
            <a:r>
              <a:rPr lang="en-US" dirty="0"/>
              <a:t>Software </a:t>
            </a:r>
            <a:r>
              <a:rPr lang="en-US" dirty="0" smtClean="0"/>
              <a:t>used for diagrams: </a:t>
            </a:r>
            <a:r>
              <a:rPr lang="en-US" dirty="0" err="1"/>
              <a:t>StarUML</a:t>
            </a:r>
            <a:endParaRPr lang="en-IN" dirty="0"/>
          </a:p>
          <a:p>
            <a:endParaRPr lang="en-IN" dirty="0"/>
          </a:p>
        </p:txBody>
      </p:sp>
    </p:spTree>
    <p:extLst>
      <p:ext uri="{BB962C8B-B14F-4D97-AF65-F5344CB8AC3E}">
        <p14:creationId xmlns:p14="http://schemas.microsoft.com/office/powerpoint/2010/main" val="29578153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Team Members</a:t>
            </a:r>
            <a:endParaRPr lang="en-IN" b="1" dirty="0"/>
          </a:p>
        </p:txBody>
      </p:sp>
      <p:sp>
        <p:nvSpPr>
          <p:cNvPr id="3" name="Content Placeholder 2"/>
          <p:cNvSpPr>
            <a:spLocks noGrp="1"/>
          </p:cNvSpPr>
          <p:nvPr>
            <p:ph idx="1"/>
          </p:nvPr>
        </p:nvSpPr>
        <p:spPr/>
        <p:txBody>
          <a:bodyPr>
            <a:normAutofit/>
          </a:bodyPr>
          <a:lstStyle/>
          <a:p>
            <a:r>
              <a:rPr lang="en-US" sz="2400" dirty="0" smtClean="0"/>
              <a:t>L Naga Veena – Front End and Back End</a:t>
            </a:r>
          </a:p>
          <a:p>
            <a:r>
              <a:rPr lang="en-US" sz="2400" dirty="0" smtClean="0"/>
              <a:t>M Venkata Ramana – Bussiness Logic</a:t>
            </a:r>
          </a:p>
          <a:p>
            <a:r>
              <a:rPr lang="en-US" sz="2400" dirty="0" smtClean="0"/>
              <a:t>L ReshmaSree – </a:t>
            </a:r>
            <a:r>
              <a:rPr lang="en-US" sz="2400" dirty="0"/>
              <a:t>Front End and </a:t>
            </a:r>
            <a:r>
              <a:rPr lang="en-US" sz="2400" dirty="0" smtClean="0"/>
              <a:t>Back End </a:t>
            </a:r>
            <a:endParaRPr lang="en-IN" sz="2400" dirty="0"/>
          </a:p>
        </p:txBody>
      </p:sp>
    </p:spTree>
    <p:extLst>
      <p:ext uri="{BB962C8B-B14F-4D97-AF65-F5344CB8AC3E}">
        <p14:creationId xmlns:p14="http://schemas.microsoft.com/office/powerpoint/2010/main" val="383664937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937" y="3055376"/>
            <a:ext cx="9601196" cy="1303867"/>
          </a:xfrm>
        </p:spPr>
        <p:txBody>
          <a:bodyPr>
            <a:normAutofit/>
          </a:bodyPr>
          <a:lstStyle/>
          <a:p>
            <a:r>
              <a:rPr lang="en-US" dirty="0" smtClean="0"/>
              <a:t/>
            </a:r>
            <a:br>
              <a:rPr lang="en-US" dirty="0" smtClean="0"/>
            </a:br>
            <a:endParaRPr lang="en-IN" dirty="0"/>
          </a:p>
        </p:txBody>
      </p:sp>
      <p:pic>
        <p:nvPicPr>
          <p:cNvPr id="10" name="Content Placeholder 9"/>
          <p:cNvPicPr>
            <a:picLocks noGrp="1" noChangeAspect="1"/>
          </p:cNvPicPr>
          <p:nvPr>
            <p:ph idx="1"/>
          </p:nvPr>
        </p:nvPicPr>
        <p:blipFill>
          <a:blip r:embed="rId2"/>
          <a:stretch>
            <a:fillRect/>
          </a:stretch>
        </p:blipFill>
        <p:spPr>
          <a:xfrm>
            <a:off x="-11562" y="0"/>
            <a:ext cx="12203562" cy="6858000"/>
          </a:xfrm>
          <a:prstGeom prst="rect">
            <a:avLst/>
          </a:prstGeom>
        </p:spPr>
      </p:pic>
    </p:spTree>
    <p:extLst>
      <p:ext uri="{BB962C8B-B14F-4D97-AF65-F5344CB8AC3E}">
        <p14:creationId xmlns:p14="http://schemas.microsoft.com/office/powerpoint/2010/main" val="2977734023"/>
      </p:ext>
    </p:extLst>
  </p:cSld>
  <p:clrMapOvr>
    <a:masterClrMapping/>
  </p:clrMapOvr>
  <p:timing>
    <p:tnLst>
      <p:par>
        <p:cTn id="1" dur="indefinite" restart="never" nodeType="tmRoot"/>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TM10001105[[fn=Crop]]</Template>
  <TotalTime>467</TotalTime>
  <Words>1131</Words>
  <Application>Microsoft Office PowerPoint</Application>
  <PresentationFormat>Widescreen</PresentationFormat>
  <Paragraphs>135</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Adobe Song Std L</vt:lpstr>
      <vt:lpstr>Arial</vt:lpstr>
      <vt:lpstr>Comic Sans MS</vt:lpstr>
      <vt:lpstr>Franklin Gothic Book</vt:lpstr>
      <vt:lpstr>Garamond</vt:lpstr>
      <vt:lpstr>Wingdings</vt:lpstr>
      <vt:lpstr>Crop</vt:lpstr>
      <vt:lpstr>UrbanSpoon</vt:lpstr>
      <vt:lpstr>About the project</vt:lpstr>
      <vt:lpstr>Objective</vt:lpstr>
      <vt:lpstr>Organization of the Project</vt:lpstr>
      <vt:lpstr>Abstract</vt:lpstr>
      <vt:lpstr>Abstract</vt:lpstr>
      <vt:lpstr>Modules</vt:lpstr>
      <vt:lpstr>Module wise description</vt:lpstr>
      <vt:lpstr>Module wise description</vt:lpstr>
      <vt:lpstr>Module wise description</vt:lpstr>
      <vt:lpstr>Module wise description</vt:lpstr>
      <vt:lpstr>Error Page</vt:lpstr>
      <vt:lpstr>Module wise description</vt:lpstr>
      <vt:lpstr>Module wise description</vt:lpstr>
      <vt:lpstr>Module wise description  Rating Process  First time rating</vt:lpstr>
      <vt:lpstr>Rating Process  Updation of rating</vt:lpstr>
      <vt:lpstr>Booking process</vt:lpstr>
      <vt:lpstr>Module wise description</vt:lpstr>
      <vt:lpstr>PowerPoint Presentation</vt:lpstr>
      <vt:lpstr>Module wise description</vt:lpstr>
      <vt:lpstr>Module wise description</vt:lpstr>
      <vt:lpstr>Usecase diagram</vt:lpstr>
      <vt:lpstr>Flow Diagram</vt:lpstr>
      <vt:lpstr>Class Diagram</vt:lpstr>
      <vt:lpstr>Testing approach</vt:lpstr>
      <vt:lpstr>Deployment</vt:lpstr>
      <vt:lpstr>Team Members</vt:lpstr>
      <vt:lpstr>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UrbanSpoon</dc:title>
  <dc:creator>Reshmasree Lankalapalli</dc:creator>
  <cp:lastModifiedBy>HP</cp:lastModifiedBy>
  <cp:revision>43</cp:revision>
  <dcterms:created xsi:type="dcterms:W3CDTF">2021-03-12T14:46:00Z</dcterms:created>
  <dcterms:modified xsi:type="dcterms:W3CDTF">2021-03-20T09:22:51Z</dcterms:modified>
</cp:coreProperties>
</file>